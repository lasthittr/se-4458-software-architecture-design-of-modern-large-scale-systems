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2" r:id="rId7"/>
    <p:sldId id="261" r:id="rId8"/>
  </p:sldIdLst>
  <p:sldSz cx="18288000" cy="10287000"/>
  <p:notesSz cx="6858000" cy="9144000"/>
  <p:embeddedFontLst>
    <p:embeddedFont>
      <p:font typeface="Garet" pitchFamily="2" charset="77"/>
      <p:regular r:id="rId9"/>
    </p:embeddedFont>
    <p:embeddedFont>
      <p:font typeface="Garet Bold" pitchFamily="2" charset="77"/>
      <p:regular r:id="rId10"/>
      <p:bold r:id="rId11"/>
    </p:embeddedFont>
    <p:embeddedFont>
      <p:font typeface="Garet Italics" pitchFamily="2" charset="77"/>
      <p:regular r:id="rId12"/>
      <p:italic r:id="rId13"/>
    </p:embeddedFont>
    <p:embeddedFont>
      <p:font typeface="Garet Light" pitchFamily="2" charset="77"/>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autoAdjust="0"/>
    <p:restoredTop sz="94658" autoAdjust="0"/>
  </p:normalViewPr>
  <p:slideViewPr>
    <p:cSldViewPr>
      <p:cViewPr varScale="1">
        <p:scale>
          <a:sx n="80" d="100"/>
          <a:sy n="80" d="100"/>
        </p:scale>
        <p:origin x="472" y="20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5.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4.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font" Target="fonts/font6.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2/24/26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2/24/26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2/24/26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2/24/26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6.svg"/><Relationship Id="rId7" Type="http://schemas.openxmlformats.org/officeDocument/2006/relationships/image" Target="../media/image9.sv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2.png"/><Relationship Id="rId10" Type="http://schemas.openxmlformats.org/officeDocument/2006/relationships/image" Target="../media/image1.png"/><Relationship Id="rId4" Type="http://schemas.openxmlformats.org/officeDocument/2006/relationships/image" Target="../media/image7.jpeg"/><Relationship Id="rId9" Type="http://schemas.openxmlformats.org/officeDocument/2006/relationships/image" Target="../media/image11.svg"/></Relationships>
</file>

<file path=ppt/slides/_rels/slide3.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14.sv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2.png"/><Relationship Id="rId4" Type="http://schemas.openxmlformats.org/officeDocument/2006/relationships/image" Target="../media/image12.jpe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7.svg"/><Relationship Id="rId2" Type="http://schemas.openxmlformats.org/officeDocument/2006/relationships/image" Target="../media/image15.jpe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2.png"/><Relationship Id="rId4" Type="http://schemas.openxmlformats.org/officeDocument/2006/relationships/image" Target="../media/image9.sv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1.sv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21B74"/>
        </a:solidFill>
        <a:effectLst/>
      </p:bgPr>
    </p:bg>
    <p:spTree>
      <p:nvGrpSpPr>
        <p:cNvPr id="1" name=""/>
        <p:cNvGrpSpPr/>
        <p:nvPr/>
      </p:nvGrpSpPr>
      <p:grpSpPr>
        <a:xfrm>
          <a:off x="0" y="0"/>
          <a:ext cx="0" cy="0"/>
          <a:chOff x="0" y="0"/>
          <a:chExt cx="0" cy="0"/>
        </a:xfrm>
      </p:grpSpPr>
      <p:sp>
        <p:nvSpPr>
          <p:cNvPr id="2" name="Freeform 2"/>
          <p:cNvSpPr/>
          <p:nvPr/>
        </p:nvSpPr>
        <p:spPr>
          <a:xfrm>
            <a:off x="16473297" y="0"/>
            <a:ext cx="1956055" cy="1414401"/>
          </a:xfrm>
          <a:custGeom>
            <a:avLst/>
            <a:gdLst/>
            <a:ahLst/>
            <a:cxnLst/>
            <a:rect l="l" t="t" r="r" b="b"/>
            <a:pathLst>
              <a:path w="1956055" h="1414401">
                <a:moveTo>
                  <a:pt x="0" y="0"/>
                </a:moveTo>
                <a:lnTo>
                  <a:pt x="1956055" y="0"/>
                </a:lnTo>
                <a:lnTo>
                  <a:pt x="1956055" y="1414401"/>
                </a:lnTo>
                <a:lnTo>
                  <a:pt x="0" y="1414401"/>
                </a:lnTo>
                <a:lnTo>
                  <a:pt x="0" y="0"/>
                </a:lnTo>
                <a:close/>
              </a:path>
            </a:pathLst>
          </a:custGeom>
          <a:blipFill>
            <a:blip r:embed="rId2"/>
            <a:stretch>
              <a:fillRect l="-6786" r="-8728" b="-59752"/>
            </a:stretch>
          </a:blipFill>
        </p:spPr>
        <p:txBody>
          <a:bodyPr/>
          <a:lstStyle/>
          <a:p>
            <a:endParaRPr lang="en-TR"/>
          </a:p>
        </p:txBody>
      </p:sp>
      <p:sp>
        <p:nvSpPr>
          <p:cNvPr id="3" name="Freeform 3"/>
          <p:cNvSpPr/>
          <p:nvPr/>
        </p:nvSpPr>
        <p:spPr>
          <a:xfrm>
            <a:off x="5481828" y="1028700"/>
            <a:ext cx="7324344" cy="8229600"/>
          </a:xfrm>
          <a:custGeom>
            <a:avLst/>
            <a:gdLst/>
            <a:ahLst/>
            <a:cxnLst/>
            <a:rect l="l" t="t" r="r" b="b"/>
            <a:pathLst>
              <a:path w="7324344" h="8229600">
                <a:moveTo>
                  <a:pt x="0" y="0"/>
                </a:moveTo>
                <a:lnTo>
                  <a:pt x="7324344" y="0"/>
                </a:lnTo>
                <a:lnTo>
                  <a:pt x="7324344" y="8229600"/>
                </a:lnTo>
                <a:lnTo>
                  <a:pt x="0" y="8229600"/>
                </a:lnTo>
                <a:lnTo>
                  <a:pt x="0" y="0"/>
                </a:lnTo>
                <a:close/>
              </a:path>
            </a:pathLst>
          </a:custGeom>
          <a:blipFill>
            <a:blip r:embed="rId3"/>
            <a:stretch>
              <a:fillRect/>
            </a:stretch>
          </a:blipFill>
        </p:spPr>
        <p:txBody>
          <a:bodyPr/>
          <a:lstStyle/>
          <a:p>
            <a:endParaRPr lang="en-TR"/>
          </a:p>
        </p:txBody>
      </p:sp>
      <p:sp>
        <p:nvSpPr>
          <p:cNvPr id="4" name="Freeform 4"/>
          <p:cNvSpPr/>
          <p:nvPr/>
        </p:nvSpPr>
        <p:spPr>
          <a:xfrm>
            <a:off x="15696074" y="8468871"/>
            <a:ext cx="1563226" cy="789429"/>
          </a:xfrm>
          <a:custGeom>
            <a:avLst/>
            <a:gdLst/>
            <a:ahLst/>
            <a:cxnLst/>
            <a:rect l="l" t="t" r="r" b="b"/>
            <a:pathLst>
              <a:path w="1563226" h="789429">
                <a:moveTo>
                  <a:pt x="0" y="0"/>
                </a:moveTo>
                <a:lnTo>
                  <a:pt x="1563226" y="0"/>
                </a:lnTo>
                <a:lnTo>
                  <a:pt x="1563226" y="789429"/>
                </a:lnTo>
                <a:lnTo>
                  <a:pt x="0" y="7894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TR"/>
          </a:p>
        </p:txBody>
      </p:sp>
      <p:sp>
        <p:nvSpPr>
          <p:cNvPr id="5" name="TextBox 5"/>
          <p:cNvSpPr txBox="1"/>
          <p:nvPr/>
        </p:nvSpPr>
        <p:spPr>
          <a:xfrm>
            <a:off x="2708982" y="4259627"/>
            <a:ext cx="12870037" cy="1592473"/>
          </a:xfrm>
          <a:prstGeom prst="rect">
            <a:avLst/>
          </a:prstGeom>
        </p:spPr>
        <p:txBody>
          <a:bodyPr lIns="0" tIns="0" rIns="0" bIns="0" rtlCol="0" anchor="t">
            <a:spAutoFit/>
          </a:bodyPr>
          <a:lstStyle/>
          <a:p>
            <a:pPr algn="ctr">
              <a:lnSpc>
                <a:spcPts val="13025"/>
              </a:lnSpc>
              <a:spcBef>
                <a:spcPct val="0"/>
              </a:spcBef>
            </a:pPr>
            <a:r>
              <a:rPr lang="en-US" sz="9304" spc="1014">
                <a:solidFill>
                  <a:srgbClr val="FFFFFF">
                    <a:alpha val="81961"/>
                  </a:srgbClr>
                </a:solidFill>
                <a:latin typeface="Garet"/>
                <a:ea typeface="Garet"/>
                <a:cs typeface="Garet"/>
                <a:sym typeface="Garet"/>
              </a:rPr>
              <a:t>Claude Sonnet</a:t>
            </a:r>
          </a:p>
        </p:txBody>
      </p:sp>
      <p:sp>
        <p:nvSpPr>
          <p:cNvPr id="6" name="TextBox 6"/>
          <p:cNvSpPr txBox="1"/>
          <p:nvPr/>
        </p:nvSpPr>
        <p:spPr>
          <a:xfrm>
            <a:off x="1459217" y="6388235"/>
            <a:ext cx="15369566" cy="1506400"/>
          </a:xfrm>
          <a:prstGeom prst="rect">
            <a:avLst/>
          </a:prstGeom>
        </p:spPr>
        <p:txBody>
          <a:bodyPr lIns="0" tIns="0" rIns="0" bIns="0" rtlCol="0" anchor="t">
            <a:spAutoFit/>
          </a:bodyPr>
          <a:lstStyle/>
          <a:p>
            <a:pPr algn="ctr">
              <a:lnSpc>
                <a:spcPts val="3070"/>
              </a:lnSpc>
            </a:pPr>
            <a:r>
              <a:rPr lang="en-US" sz="2192" spc="339">
                <a:solidFill>
                  <a:srgbClr val="FFFFFF"/>
                </a:solidFill>
                <a:latin typeface="Garet"/>
                <a:ea typeface="Garet"/>
                <a:cs typeface="Garet"/>
                <a:sym typeface="Garet"/>
              </a:rPr>
              <a:t>SE 4458 Software Architecture &amp; Design of Modern Large Scale Systems</a:t>
            </a:r>
          </a:p>
          <a:p>
            <a:pPr algn="ctr">
              <a:lnSpc>
                <a:spcPts val="3070"/>
              </a:lnSpc>
            </a:pPr>
            <a:r>
              <a:rPr lang="en-US" sz="2192" i="1">
                <a:solidFill>
                  <a:srgbClr val="FFFFFF"/>
                </a:solidFill>
                <a:latin typeface="Garet Italics"/>
                <a:ea typeface="Garet Italics"/>
                <a:cs typeface="Garet Italics"/>
                <a:sym typeface="Garet Italics"/>
              </a:rPr>
              <a:t> </a:t>
            </a:r>
          </a:p>
          <a:p>
            <a:pPr algn="ctr">
              <a:lnSpc>
                <a:spcPts val="3070"/>
              </a:lnSpc>
            </a:pPr>
            <a:endParaRPr lang="en-US" sz="2192" i="1">
              <a:solidFill>
                <a:srgbClr val="FFFFFF"/>
              </a:solidFill>
              <a:latin typeface="Garet Italics"/>
              <a:ea typeface="Garet Italics"/>
              <a:cs typeface="Garet Italics"/>
              <a:sym typeface="Garet Italics"/>
            </a:endParaRPr>
          </a:p>
          <a:p>
            <a:pPr algn="l">
              <a:lnSpc>
                <a:spcPts val="3070"/>
              </a:lnSpc>
              <a:spcBef>
                <a:spcPct val="0"/>
              </a:spcBef>
            </a:pPr>
            <a:endParaRPr lang="en-US" sz="2192" i="1">
              <a:solidFill>
                <a:srgbClr val="FFFFFF"/>
              </a:solidFill>
              <a:latin typeface="Garet Italics"/>
              <a:ea typeface="Garet Italics"/>
              <a:cs typeface="Garet Italics"/>
              <a:sym typeface="Garet Italics"/>
            </a:endParaRPr>
          </a:p>
        </p:txBody>
      </p:sp>
      <p:sp>
        <p:nvSpPr>
          <p:cNvPr id="7" name="TextBox 7"/>
          <p:cNvSpPr txBox="1"/>
          <p:nvPr/>
        </p:nvSpPr>
        <p:spPr>
          <a:xfrm>
            <a:off x="13303869" y="665300"/>
            <a:ext cx="3347533" cy="363400"/>
          </a:xfrm>
          <a:prstGeom prst="rect">
            <a:avLst/>
          </a:prstGeom>
        </p:spPr>
        <p:txBody>
          <a:bodyPr lIns="0" tIns="0" rIns="0" bIns="0" rtlCol="0" anchor="t">
            <a:spAutoFit/>
          </a:bodyPr>
          <a:lstStyle/>
          <a:p>
            <a:pPr algn="r">
              <a:lnSpc>
                <a:spcPts val="3070"/>
              </a:lnSpc>
              <a:spcBef>
                <a:spcPct val="0"/>
              </a:spcBef>
            </a:pPr>
            <a:r>
              <a:rPr lang="en-US" sz="2192" spc="-43">
                <a:solidFill>
                  <a:srgbClr val="B1CFEC"/>
                </a:solidFill>
                <a:latin typeface="Garet"/>
                <a:ea typeface="Garet"/>
                <a:cs typeface="Garet"/>
                <a:sym typeface="Garet"/>
              </a:rPr>
              <a:t>Yasar University </a:t>
            </a:r>
          </a:p>
        </p:txBody>
      </p:sp>
      <p:sp>
        <p:nvSpPr>
          <p:cNvPr id="8" name="Freeform 8"/>
          <p:cNvSpPr/>
          <p:nvPr/>
        </p:nvSpPr>
        <p:spPr>
          <a:xfrm rot="-5400000">
            <a:off x="641802" y="1415598"/>
            <a:ext cx="1563226" cy="789429"/>
          </a:xfrm>
          <a:custGeom>
            <a:avLst/>
            <a:gdLst/>
            <a:ahLst/>
            <a:cxnLst/>
            <a:rect l="l" t="t" r="r" b="b"/>
            <a:pathLst>
              <a:path w="1563226" h="789429">
                <a:moveTo>
                  <a:pt x="0" y="0"/>
                </a:moveTo>
                <a:lnTo>
                  <a:pt x="1563226" y="0"/>
                </a:lnTo>
                <a:lnTo>
                  <a:pt x="1563226" y="789430"/>
                </a:lnTo>
                <a:lnTo>
                  <a:pt x="0" y="78943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TR"/>
          </a:p>
        </p:txBody>
      </p:sp>
      <p:sp>
        <p:nvSpPr>
          <p:cNvPr id="9" name="TextBox 9"/>
          <p:cNvSpPr txBox="1"/>
          <p:nvPr/>
        </p:nvSpPr>
        <p:spPr>
          <a:xfrm>
            <a:off x="631426" y="9018069"/>
            <a:ext cx="3606403" cy="744400"/>
          </a:xfrm>
          <a:prstGeom prst="rect">
            <a:avLst/>
          </a:prstGeom>
        </p:spPr>
        <p:txBody>
          <a:bodyPr lIns="0" tIns="0" rIns="0" bIns="0" rtlCol="0" anchor="t">
            <a:spAutoFit/>
          </a:bodyPr>
          <a:lstStyle/>
          <a:p>
            <a:pPr algn="l">
              <a:lnSpc>
                <a:spcPts val="3070"/>
              </a:lnSpc>
              <a:spcBef>
                <a:spcPct val="0"/>
              </a:spcBef>
            </a:pPr>
            <a:r>
              <a:rPr lang="en-US" sz="2192" i="1">
                <a:solidFill>
                  <a:srgbClr val="FFFFFF">
                    <a:alpha val="70980"/>
                  </a:srgbClr>
                </a:solidFill>
                <a:latin typeface="Garet Italics"/>
                <a:ea typeface="Garet Italics"/>
                <a:cs typeface="Garet Italics"/>
                <a:sym typeface="Garet Italics"/>
              </a:rPr>
              <a:t>Begüm Bal  22070006074</a:t>
            </a:r>
          </a:p>
          <a:p>
            <a:pPr algn="l">
              <a:lnSpc>
                <a:spcPts val="3070"/>
              </a:lnSpc>
              <a:spcBef>
                <a:spcPct val="0"/>
              </a:spcBef>
            </a:pPr>
            <a:r>
              <a:rPr lang="en-US" sz="2192" i="1">
                <a:solidFill>
                  <a:srgbClr val="FFFFFF">
                    <a:alpha val="70980"/>
                  </a:srgbClr>
                </a:solidFill>
                <a:latin typeface="Garet Italics"/>
                <a:ea typeface="Garet Italics"/>
                <a:cs typeface="Garet Italics"/>
                <a:sym typeface="Garet Italics"/>
              </a:rPr>
              <a:t>Emre Akar  21070006213</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21B74"/>
        </a:solidFill>
        <a:effectLst/>
      </p:bgPr>
    </p:bg>
    <p:spTree>
      <p:nvGrpSpPr>
        <p:cNvPr id="1" name=""/>
        <p:cNvGrpSpPr/>
        <p:nvPr/>
      </p:nvGrpSpPr>
      <p:grpSpPr>
        <a:xfrm>
          <a:off x="0" y="0"/>
          <a:ext cx="0" cy="0"/>
          <a:chOff x="0" y="0"/>
          <a:chExt cx="0" cy="0"/>
        </a:xfrm>
      </p:grpSpPr>
      <p:sp>
        <p:nvSpPr>
          <p:cNvPr id="2" name="Freeform 2"/>
          <p:cNvSpPr/>
          <p:nvPr/>
        </p:nvSpPr>
        <p:spPr>
          <a:xfrm>
            <a:off x="893362" y="893738"/>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TR"/>
          </a:p>
        </p:txBody>
      </p:sp>
      <p:grpSp>
        <p:nvGrpSpPr>
          <p:cNvPr id="3" name="Group 3"/>
          <p:cNvGrpSpPr/>
          <p:nvPr/>
        </p:nvGrpSpPr>
        <p:grpSpPr>
          <a:xfrm>
            <a:off x="2127065" y="1897532"/>
            <a:ext cx="5246370" cy="7360768"/>
            <a:chOff x="0" y="0"/>
            <a:chExt cx="812800" cy="1140376"/>
          </a:xfrm>
        </p:grpSpPr>
        <p:sp>
          <p:nvSpPr>
            <p:cNvPr id="4" name="Freeform 4"/>
            <p:cNvSpPr/>
            <p:nvPr/>
          </p:nvSpPr>
          <p:spPr>
            <a:xfrm>
              <a:off x="0" y="0"/>
              <a:ext cx="812800" cy="1140376"/>
            </a:xfrm>
            <a:custGeom>
              <a:avLst/>
              <a:gdLst/>
              <a:ahLst/>
              <a:cxnLst/>
              <a:rect l="l" t="t" r="r" b="b"/>
              <a:pathLst>
                <a:path w="812800" h="1140376">
                  <a:moveTo>
                    <a:pt x="0" y="0"/>
                  </a:moveTo>
                  <a:lnTo>
                    <a:pt x="812800" y="0"/>
                  </a:lnTo>
                  <a:lnTo>
                    <a:pt x="812800" y="1140376"/>
                  </a:lnTo>
                  <a:lnTo>
                    <a:pt x="0" y="1140376"/>
                  </a:lnTo>
                  <a:close/>
                </a:path>
              </a:pathLst>
            </a:custGeom>
            <a:blipFill>
              <a:blip r:embed="rId4"/>
              <a:stretch>
                <a:fillRect l="-14365" t="-30069" r="-9718" b="-2674"/>
              </a:stretch>
            </a:blipFill>
          </p:spPr>
          <p:txBody>
            <a:bodyPr/>
            <a:lstStyle/>
            <a:p>
              <a:endParaRPr lang="en-TR"/>
            </a:p>
          </p:txBody>
        </p:sp>
      </p:grpSp>
      <p:sp>
        <p:nvSpPr>
          <p:cNvPr id="5" name="Freeform 5"/>
          <p:cNvSpPr/>
          <p:nvPr/>
        </p:nvSpPr>
        <p:spPr>
          <a:xfrm>
            <a:off x="13384580" y="-3754939"/>
            <a:ext cx="7324344" cy="8229600"/>
          </a:xfrm>
          <a:custGeom>
            <a:avLst/>
            <a:gdLst/>
            <a:ahLst/>
            <a:cxnLst/>
            <a:rect l="l" t="t" r="r" b="b"/>
            <a:pathLst>
              <a:path w="7324344" h="8229600">
                <a:moveTo>
                  <a:pt x="0" y="0"/>
                </a:moveTo>
                <a:lnTo>
                  <a:pt x="7324344" y="0"/>
                </a:lnTo>
                <a:lnTo>
                  <a:pt x="7324344" y="8229600"/>
                </a:lnTo>
                <a:lnTo>
                  <a:pt x="0" y="8229600"/>
                </a:lnTo>
                <a:lnTo>
                  <a:pt x="0" y="0"/>
                </a:lnTo>
                <a:close/>
              </a:path>
            </a:pathLst>
          </a:custGeom>
          <a:blipFill>
            <a:blip r:embed="rId5"/>
            <a:stretch>
              <a:fillRect/>
            </a:stretch>
          </a:blipFill>
        </p:spPr>
        <p:txBody>
          <a:bodyPr/>
          <a:lstStyle/>
          <a:p>
            <a:endParaRPr lang="en-TR"/>
          </a:p>
        </p:txBody>
      </p:sp>
      <p:sp>
        <p:nvSpPr>
          <p:cNvPr id="6" name="Freeform 6"/>
          <p:cNvSpPr/>
          <p:nvPr/>
        </p:nvSpPr>
        <p:spPr>
          <a:xfrm rot="5400000">
            <a:off x="7716928" y="6730972"/>
            <a:ext cx="445815" cy="445815"/>
          </a:xfrm>
          <a:custGeom>
            <a:avLst/>
            <a:gdLst/>
            <a:ahLst/>
            <a:cxnLst/>
            <a:rect l="l" t="t" r="r" b="b"/>
            <a:pathLst>
              <a:path w="445815" h="445815">
                <a:moveTo>
                  <a:pt x="0" y="0"/>
                </a:moveTo>
                <a:lnTo>
                  <a:pt x="445815" y="0"/>
                </a:lnTo>
                <a:lnTo>
                  <a:pt x="445815" y="445815"/>
                </a:lnTo>
                <a:lnTo>
                  <a:pt x="0" y="44581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TR"/>
          </a:p>
        </p:txBody>
      </p:sp>
      <p:sp>
        <p:nvSpPr>
          <p:cNvPr id="7" name="Freeform 7"/>
          <p:cNvSpPr/>
          <p:nvPr/>
        </p:nvSpPr>
        <p:spPr>
          <a:xfrm rot="5400000">
            <a:off x="12747261" y="6674304"/>
            <a:ext cx="445815" cy="445815"/>
          </a:xfrm>
          <a:custGeom>
            <a:avLst/>
            <a:gdLst/>
            <a:ahLst/>
            <a:cxnLst/>
            <a:rect l="l" t="t" r="r" b="b"/>
            <a:pathLst>
              <a:path w="445815" h="445815">
                <a:moveTo>
                  <a:pt x="0" y="0"/>
                </a:moveTo>
                <a:lnTo>
                  <a:pt x="445815" y="0"/>
                </a:lnTo>
                <a:lnTo>
                  <a:pt x="445815" y="445815"/>
                </a:lnTo>
                <a:lnTo>
                  <a:pt x="0" y="44581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TR"/>
          </a:p>
        </p:txBody>
      </p:sp>
      <p:sp>
        <p:nvSpPr>
          <p:cNvPr id="8" name="Freeform 8"/>
          <p:cNvSpPr/>
          <p:nvPr/>
        </p:nvSpPr>
        <p:spPr>
          <a:xfrm rot="5400000">
            <a:off x="7716928" y="8396310"/>
            <a:ext cx="445815" cy="445815"/>
          </a:xfrm>
          <a:custGeom>
            <a:avLst/>
            <a:gdLst/>
            <a:ahLst/>
            <a:cxnLst/>
            <a:rect l="l" t="t" r="r" b="b"/>
            <a:pathLst>
              <a:path w="445815" h="445815">
                <a:moveTo>
                  <a:pt x="0" y="0"/>
                </a:moveTo>
                <a:lnTo>
                  <a:pt x="445815" y="0"/>
                </a:lnTo>
                <a:lnTo>
                  <a:pt x="445815" y="445815"/>
                </a:lnTo>
                <a:lnTo>
                  <a:pt x="0" y="44581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TR"/>
          </a:p>
        </p:txBody>
      </p:sp>
      <p:sp>
        <p:nvSpPr>
          <p:cNvPr id="9" name="Freeform 9"/>
          <p:cNvSpPr/>
          <p:nvPr/>
        </p:nvSpPr>
        <p:spPr>
          <a:xfrm rot="5400000">
            <a:off x="12747261" y="8396310"/>
            <a:ext cx="445815" cy="445815"/>
          </a:xfrm>
          <a:custGeom>
            <a:avLst/>
            <a:gdLst/>
            <a:ahLst/>
            <a:cxnLst/>
            <a:rect l="l" t="t" r="r" b="b"/>
            <a:pathLst>
              <a:path w="445815" h="445815">
                <a:moveTo>
                  <a:pt x="0" y="0"/>
                </a:moveTo>
                <a:lnTo>
                  <a:pt x="445815" y="0"/>
                </a:lnTo>
                <a:lnTo>
                  <a:pt x="445815" y="445815"/>
                </a:lnTo>
                <a:lnTo>
                  <a:pt x="0" y="44581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TR"/>
          </a:p>
        </p:txBody>
      </p:sp>
      <p:sp>
        <p:nvSpPr>
          <p:cNvPr id="10" name="Freeform 10"/>
          <p:cNvSpPr/>
          <p:nvPr/>
        </p:nvSpPr>
        <p:spPr>
          <a:xfrm>
            <a:off x="538284" y="9391859"/>
            <a:ext cx="1100792" cy="525628"/>
          </a:xfrm>
          <a:custGeom>
            <a:avLst/>
            <a:gdLst/>
            <a:ahLst/>
            <a:cxnLst/>
            <a:rect l="l" t="t" r="r" b="b"/>
            <a:pathLst>
              <a:path w="1100792" h="525628">
                <a:moveTo>
                  <a:pt x="0" y="0"/>
                </a:moveTo>
                <a:lnTo>
                  <a:pt x="1100791" y="0"/>
                </a:lnTo>
                <a:lnTo>
                  <a:pt x="1100791" y="525628"/>
                </a:lnTo>
                <a:lnTo>
                  <a:pt x="0" y="52562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TR"/>
          </a:p>
        </p:txBody>
      </p:sp>
      <p:sp>
        <p:nvSpPr>
          <p:cNvPr id="11" name="TextBox 11"/>
          <p:cNvSpPr txBox="1"/>
          <p:nvPr/>
        </p:nvSpPr>
        <p:spPr>
          <a:xfrm>
            <a:off x="8583001" y="1525174"/>
            <a:ext cx="8868323" cy="1270224"/>
          </a:xfrm>
          <a:prstGeom prst="rect">
            <a:avLst/>
          </a:prstGeom>
        </p:spPr>
        <p:txBody>
          <a:bodyPr lIns="0" tIns="0" rIns="0" bIns="0" rtlCol="0" anchor="t">
            <a:spAutoFit/>
          </a:bodyPr>
          <a:lstStyle/>
          <a:p>
            <a:pPr algn="just">
              <a:lnSpc>
                <a:spcPts val="10491"/>
              </a:lnSpc>
              <a:spcBef>
                <a:spcPct val="0"/>
              </a:spcBef>
            </a:pPr>
            <a:r>
              <a:rPr lang="en-US" sz="7493">
                <a:solidFill>
                  <a:srgbClr val="FFFFFF">
                    <a:alpha val="88627"/>
                  </a:srgbClr>
                </a:solidFill>
                <a:latin typeface="Garet"/>
                <a:ea typeface="Garet"/>
                <a:cs typeface="Garet"/>
                <a:sym typeface="Garet"/>
              </a:rPr>
              <a:t>Claude Sonnet</a:t>
            </a:r>
          </a:p>
        </p:txBody>
      </p:sp>
      <p:sp>
        <p:nvSpPr>
          <p:cNvPr id="12" name="TextBox 12"/>
          <p:cNvSpPr txBox="1"/>
          <p:nvPr/>
        </p:nvSpPr>
        <p:spPr>
          <a:xfrm>
            <a:off x="8704390" y="3376423"/>
            <a:ext cx="7509595" cy="2529283"/>
          </a:xfrm>
          <a:prstGeom prst="rect">
            <a:avLst/>
          </a:prstGeom>
        </p:spPr>
        <p:txBody>
          <a:bodyPr lIns="0" tIns="0" rIns="0" bIns="0" rtlCol="0" anchor="t">
            <a:spAutoFit/>
          </a:bodyPr>
          <a:lstStyle/>
          <a:p>
            <a:pPr algn="ctr">
              <a:lnSpc>
                <a:spcPts val="2865"/>
              </a:lnSpc>
              <a:spcBef>
                <a:spcPct val="0"/>
              </a:spcBef>
            </a:pPr>
            <a:r>
              <a:rPr lang="en-US" sz="2046">
                <a:solidFill>
                  <a:srgbClr val="FFFFFF"/>
                </a:solidFill>
                <a:latin typeface="Garet Light"/>
                <a:ea typeface="Garet Light"/>
                <a:cs typeface="Garet Light"/>
                <a:sym typeface="Garet Light"/>
              </a:rPr>
              <a:t>Claude Sonnet is a state-of-the-art Large Language Model (LLM) designed for agentic software engineering. By combining high-speed reasoning with a massive 1-million-token context window, it functions as an intelligent layer capable of navigating complex codebases, identifying architectural bottlenecks, and performing autonomous debugging. </a:t>
            </a:r>
          </a:p>
        </p:txBody>
      </p:sp>
      <p:sp>
        <p:nvSpPr>
          <p:cNvPr id="13" name="TextBox 13"/>
          <p:cNvSpPr txBox="1"/>
          <p:nvPr/>
        </p:nvSpPr>
        <p:spPr>
          <a:xfrm>
            <a:off x="8240116" y="6743569"/>
            <a:ext cx="3027093" cy="380146"/>
          </a:xfrm>
          <a:prstGeom prst="rect">
            <a:avLst/>
          </a:prstGeom>
        </p:spPr>
        <p:txBody>
          <a:bodyPr lIns="0" tIns="0" rIns="0" bIns="0" rtlCol="0" anchor="t">
            <a:spAutoFit/>
          </a:bodyPr>
          <a:lstStyle/>
          <a:p>
            <a:pPr algn="l">
              <a:lnSpc>
                <a:spcPts val="3197"/>
              </a:lnSpc>
              <a:spcBef>
                <a:spcPct val="0"/>
              </a:spcBef>
            </a:pPr>
            <a:r>
              <a:rPr lang="en-US" sz="2283" b="1">
                <a:solidFill>
                  <a:srgbClr val="FFFFFF"/>
                </a:solidFill>
                <a:latin typeface="Garet Bold"/>
                <a:ea typeface="Garet Bold"/>
                <a:cs typeface="Garet Bold"/>
                <a:sym typeface="Garet Bold"/>
              </a:rPr>
              <a:t>Model Class</a:t>
            </a:r>
          </a:p>
        </p:txBody>
      </p:sp>
      <p:sp>
        <p:nvSpPr>
          <p:cNvPr id="14" name="TextBox 14"/>
          <p:cNvSpPr txBox="1"/>
          <p:nvPr/>
        </p:nvSpPr>
        <p:spPr>
          <a:xfrm>
            <a:off x="13270449" y="6686900"/>
            <a:ext cx="3027093" cy="380146"/>
          </a:xfrm>
          <a:prstGeom prst="rect">
            <a:avLst/>
          </a:prstGeom>
        </p:spPr>
        <p:txBody>
          <a:bodyPr lIns="0" tIns="0" rIns="0" bIns="0" rtlCol="0" anchor="t">
            <a:spAutoFit/>
          </a:bodyPr>
          <a:lstStyle/>
          <a:p>
            <a:pPr algn="l">
              <a:lnSpc>
                <a:spcPts val="3197"/>
              </a:lnSpc>
              <a:spcBef>
                <a:spcPct val="0"/>
              </a:spcBef>
            </a:pPr>
            <a:r>
              <a:rPr lang="en-US" sz="2283" b="1">
                <a:solidFill>
                  <a:srgbClr val="FFFFFF"/>
                </a:solidFill>
                <a:latin typeface="Garet Bold"/>
                <a:ea typeface="Garet Bold"/>
                <a:cs typeface="Garet Bold"/>
                <a:sym typeface="Garet Bold"/>
              </a:rPr>
              <a:t>Context Window</a:t>
            </a:r>
          </a:p>
        </p:txBody>
      </p:sp>
      <p:sp>
        <p:nvSpPr>
          <p:cNvPr id="15" name="TextBox 15"/>
          <p:cNvSpPr txBox="1"/>
          <p:nvPr/>
        </p:nvSpPr>
        <p:spPr>
          <a:xfrm>
            <a:off x="8240116" y="8408907"/>
            <a:ext cx="2755012" cy="380146"/>
          </a:xfrm>
          <a:prstGeom prst="rect">
            <a:avLst/>
          </a:prstGeom>
        </p:spPr>
        <p:txBody>
          <a:bodyPr lIns="0" tIns="0" rIns="0" bIns="0" rtlCol="0" anchor="t">
            <a:spAutoFit/>
          </a:bodyPr>
          <a:lstStyle/>
          <a:p>
            <a:pPr algn="l">
              <a:lnSpc>
                <a:spcPts val="3197"/>
              </a:lnSpc>
              <a:spcBef>
                <a:spcPct val="0"/>
              </a:spcBef>
            </a:pPr>
            <a:r>
              <a:rPr lang="en-US" sz="2283" b="1">
                <a:solidFill>
                  <a:srgbClr val="FFFFFF"/>
                </a:solidFill>
                <a:latin typeface="Garet Bold"/>
                <a:ea typeface="Garet Bold"/>
                <a:cs typeface="Garet Bold"/>
                <a:sym typeface="Garet Bold"/>
              </a:rPr>
              <a:t>Key Capability</a:t>
            </a:r>
          </a:p>
        </p:txBody>
      </p:sp>
      <p:sp>
        <p:nvSpPr>
          <p:cNvPr id="16" name="TextBox 16"/>
          <p:cNvSpPr txBox="1"/>
          <p:nvPr/>
        </p:nvSpPr>
        <p:spPr>
          <a:xfrm>
            <a:off x="13270449" y="8408907"/>
            <a:ext cx="3027093" cy="380146"/>
          </a:xfrm>
          <a:prstGeom prst="rect">
            <a:avLst/>
          </a:prstGeom>
        </p:spPr>
        <p:txBody>
          <a:bodyPr lIns="0" tIns="0" rIns="0" bIns="0" rtlCol="0" anchor="t">
            <a:spAutoFit/>
          </a:bodyPr>
          <a:lstStyle/>
          <a:p>
            <a:pPr algn="l">
              <a:lnSpc>
                <a:spcPts val="3197"/>
              </a:lnSpc>
              <a:spcBef>
                <a:spcPct val="0"/>
              </a:spcBef>
            </a:pPr>
            <a:r>
              <a:rPr lang="en-US" sz="2283" b="1">
                <a:solidFill>
                  <a:srgbClr val="FFFFFF"/>
                </a:solidFill>
                <a:latin typeface="Garet Bold"/>
                <a:ea typeface="Garet Bold"/>
                <a:cs typeface="Garet Bold"/>
                <a:sym typeface="Garet Bold"/>
              </a:rPr>
              <a:t>Primary Use Case</a:t>
            </a:r>
          </a:p>
        </p:txBody>
      </p:sp>
      <p:sp>
        <p:nvSpPr>
          <p:cNvPr id="17" name="TextBox 17"/>
          <p:cNvSpPr txBox="1"/>
          <p:nvPr/>
        </p:nvSpPr>
        <p:spPr>
          <a:xfrm>
            <a:off x="12913943" y="9062305"/>
            <a:ext cx="4132808" cy="621008"/>
          </a:xfrm>
          <a:prstGeom prst="rect">
            <a:avLst/>
          </a:prstGeom>
        </p:spPr>
        <p:txBody>
          <a:bodyPr lIns="0" tIns="0" rIns="0" bIns="0" rtlCol="0" anchor="t">
            <a:spAutoFit/>
          </a:bodyPr>
          <a:lstStyle/>
          <a:p>
            <a:pPr algn="ctr">
              <a:lnSpc>
                <a:spcPts val="2521"/>
              </a:lnSpc>
              <a:spcBef>
                <a:spcPct val="0"/>
              </a:spcBef>
            </a:pPr>
            <a:r>
              <a:rPr lang="en-US" sz="1800">
                <a:solidFill>
                  <a:srgbClr val="FFFFFF"/>
                </a:solidFill>
                <a:latin typeface="Garet"/>
                <a:ea typeface="Garet"/>
                <a:cs typeface="Garet"/>
                <a:sym typeface="Garet"/>
              </a:rPr>
              <a:t>Autonomous Software Engineering </a:t>
            </a:r>
          </a:p>
          <a:p>
            <a:pPr algn="l">
              <a:lnSpc>
                <a:spcPts val="2521"/>
              </a:lnSpc>
              <a:spcBef>
                <a:spcPct val="0"/>
              </a:spcBef>
            </a:pPr>
            <a:r>
              <a:rPr lang="en-US" sz="1800">
                <a:solidFill>
                  <a:srgbClr val="FFFFFF"/>
                </a:solidFill>
                <a:latin typeface="Garet"/>
                <a:ea typeface="Garet"/>
                <a:cs typeface="Garet"/>
                <a:sym typeface="Garet"/>
              </a:rPr>
              <a:t>(AI Agents)</a:t>
            </a:r>
          </a:p>
        </p:txBody>
      </p:sp>
      <p:sp>
        <p:nvSpPr>
          <p:cNvPr id="18" name="TextBox 18"/>
          <p:cNvSpPr txBox="1"/>
          <p:nvPr/>
        </p:nvSpPr>
        <p:spPr>
          <a:xfrm>
            <a:off x="7716928" y="9062305"/>
            <a:ext cx="4732734" cy="621030"/>
          </a:xfrm>
          <a:prstGeom prst="rect">
            <a:avLst/>
          </a:prstGeom>
        </p:spPr>
        <p:txBody>
          <a:bodyPr lIns="0" tIns="0" rIns="0" bIns="0" rtlCol="0" anchor="t">
            <a:spAutoFit/>
          </a:bodyPr>
          <a:lstStyle/>
          <a:p>
            <a:pPr algn="ctr">
              <a:lnSpc>
                <a:spcPts val="2520"/>
              </a:lnSpc>
              <a:spcBef>
                <a:spcPct val="0"/>
              </a:spcBef>
            </a:pPr>
            <a:r>
              <a:rPr lang="en-US" sz="1800">
                <a:solidFill>
                  <a:srgbClr val="FFFFFF"/>
                </a:solidFill>
                <a:latin typeface="Garet"/>
                <a:ea typeface="Garet"/>
                <a:cs typeface="Garet"/>
                <a:sym typeface="Garet"/>
              </a:rPr>
              <a:t>Computer Use &amp; Model Context Protocol</a:t>
            </a:r>
          </a:p>
          <a:p>
            <a:pPr algn="l">
              <a:lnSpc>
                <a:spcPts val="2520"/>
              </a:lnSpc>
              <a:spcBef>
                <a:spcPct val="0"/>
              </a:spcBef>
            </a:pPr>
            <a:r>
              <a:rPr lang="en-US" sz="1800">
                <a:solidFill>
                  <a:srgbClr val="FFFFFF"/>
                </a:solidFill>
                <a:latin typeface="Garet"/>
                <a:ea typeface="Garet"/>
                <a:cs typeface="Garet"/>
                <a:sym typeface="Garet"/>
              </a:rPr>
              <a:t> (MCP) integration</a:t>
            </a:r>
          </a:p>
        </p:txBody>
      </p:sp>
      <p:sp>
        <p:nvSpPr>
          <p:cNvPr id="19" name="TextBox 19"/>
          <p:cNvSpPr txBox="1"/>
          <p:nvPr/>
        </p:nvSpPr>
        <p:spPr>
          <a:xfrm>
            <a:off x="12970168" y="7367049"/>
            <a:ext cx="2171551" cy="306705"/>
          </a:xfrm>
          <a:prstGeom prst="rect">
            <a:avLst/>
          </a:prstGeom>
        </p:spPr>
        <p:txBody>
          <a:bodyPr lIns="0" tIns="0" rIns="0" bIns="0" rtlCol="0" anchor="t">
            <a:spAutoFit/>
          </a:bodyPr>
          <a:lstStyle/>
          <a:p>
            <a:pPr algn="ctr">
              <a:lnSpc>
                <a:spcPts val="2520"/>
              </a:lnSpc>
              <a:spcBef>
                <a:spcPct val="0"/>
              </a:spcBef>
            </a:pPr>
            <a:r>
              <a:rPr lang="en-US" sz="1800">
                <a:solidFill>
                  <a:srgbClr val="FFFFFF"/>
                </a:solidFill>
                <a:latin typeface="Garet"/>
                <a:ea typeface="Garet"/>
                <a:cs typeface="Garet"/>
                <a:sym typeface="Garet"/>
              </a:rPr>
              <a:t>1,000,000+ Tokens</a:t>
            </a:r>
          </a:p>
        </p:txBody>
      </p:sp>
      <p:sp>
        <p:nvSpPr>
          <p:cNvPr id="20" name="TextBox 20"/>
          <p:cNvSpPr txBox="1"/>
          <p:nvPr/>
        </p:nvSpPr>
        <p:spPr>
          <a:xfrm>
            <a:off x="7780478" y="7390603"/>
            <a:ext cx="4605635" cy="306705"/>
          </a:xfrm>
          <a:prstGeom prst="rect">
            <a:avLst/>
          </a:prstGeom>
        </p:spPr>
        <p:txBody>
          <a:bodyPr lIns="0" tIns="0" rIns="0" bIns="0" rtlCol="0" anchor="t">
            <a:spAutoFit/>
          </a:bodyPr>
          <a:lstStyle/>
          <a:p>
            <a:pPr algn="l">
              <a:lnSpc>
                <a:spcPts val="2520"/>
              </a:lnSpc>
              <a:spcBef>
                <a:spcPct val="0"/>
              </a:spcBef>
            </a:pPr>
            <a:r>
              <a:rPr lang="en-US" sz="1800">
                <a:solidFill>
                  <a:srgbClr val="FFFFFF"/>
                </a:solidFill>
                <a:latin typeface="Garet"/>
                <a:ea typeface="Garet"/>
                <a:cs typeface="Garet"/>
                <a:sym typeface="Garet"/>
              </a:rPr>
              <a:t>Multi-modal Transformer (Text + Vision)</a:t>
            </a:r>
          </a:p>
        </p:txBody>
      </p:sp>
      <p:sp>
        <p:nvSpPr>
          <p:cNvPr id="21" name="Freeform 21"/>
          <p:cNvSpPr/>
          <p:nvPr/>
        </p:nvSpPr>
        <p:spPr>
          <a:xfrm>
            <a:off x="16473297" y="0"/>
            <a:ext cx="1956055" cy="1414401"/>
          </a:xfrm>
          <a:custGeom>
            <a:avLst/>
            <a:gdLst/>
            <a:ahLst/>
            <a:cxnLst/>
            <a:rect l="l" t="t" r="r" b="b"/>
            <a:pathLst>
              <a:path w="1956055" h="1414401">
                <a:moveTo>
                  <a:pt x="0" y="0"/>
                </a:moveTo>
                <a:lnTo>
                  <a:pt x="1956055" y="0"/>
                </a:lnTo>
                <a:lnTo>
                  <a:pt x="1956055" y="1414401"/>
                </a:lnTo>
                <a:lnTo>
                  <a:pt x="0" y="1414401"/>
                </a:lnTo>
                <a:lnTo>
                  <a:pt x="0" y="0"/>
                </a:lnTo>
                <a:close/>
              </a:path>
            </a:pathLst>
          </a:custGeom>
          <a:blipFill>
            <a:blip r:embed="rId10"/>
            <a:stretch>
              <a:fillRect l="-6786" r="-8728" b="-59752"/>
            </a:stretch>
          </a:blipFill>
        </p:spPr>
        <p:txBody>
          <a:bodyPr/>
          <a:lstStyle/>
          <a:p>
            <a:endParaRPr lang="en-TR"/>
          </a:p>
        </p:txBody>
      </p:sp>
      <p:sp>
        <p:nvSpPr>
          <p:cNvPr id="22" name="TextBox 22"/>
          <p:cNvSpPr txBox="1"/>
          <p:nvPr/>
        </p:nvSpPr>
        <p:spPr>
          <a:xfrm>
            <a:off x="13303869" y="665300"/>
            <a:ext cx="3347533" cy="363400"/>
          </a:xfrm>
          <a:prstGeom prst="rect">
            <a:avLst/>
          </a:prstGeom>
        </p:spPr>
        <p:txBody>
          <a:bodyPr lIns="0" tIns="0" rIns="0" bIns="0" rtlCol="0" anchor="t">
            <a:spAutoFit/>
          </a:bodyPr>
          <a:lstStyle/>
          <a:p>
            <a:pPr algn="r">
              <a:lnSpc>
                <a:spcPts val="3070"/>
              </a:lnSpc>
              <a:spcBef>
                <a:spcPct val="0"/>
              </a:spcBef>
            </a:pPr>
            <a:r>
              <a:rPr lang="en-US" sz="2192" spc="-43">
                <a:solidFill>
                  <a:srgbClr val="B1CFEC"/>
                </a:solidFill>
                <a:latin typeface="Garet"/>
                <a:ea typeface="Garet"/>
                <a:cs typeface="Garet"/>
                <a:sym typeface="Garet"/>
              </a:rPr>
              <a:t>Yasar University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21B74"/>
        </a:solidFill>
        <a:effectLst/>
      </p:bgPr>
    </p:bg>
    <p:spTree>
      <p:nvGrpSpPr>
        <p:cNvPr id="1" name=""/>
        <p:cNvGrpSpPr/>
        <p:nvPr/>
      </p:nvGrpSpPr>
      <p:grpSpPr>
        <a:xfrm>
          <a:off x="0" y="0"/>
          <a:ext cx="0" cy="0"/>
          <a:chOff x="0" y="0"/>
          <a:chExt cx="0" cy="0"/>
        </a:xfrm>
      </p:grpSpPr>
      <p:sp>
        <p:nvSpPr>
          <p:cNvPr id="2" name="Freeform 2"/>
          <p:cNvSpPr/>
          <p:nvPr/>
        </p:nvSpPr>
        <p:spPr>
          <a:xfrm rot="-10800000">
            <a:off x="9340401" y="493367"/>
            <a:ext cx="3387507" cy="3387507"/>
          </a:xfrm>
          <a:custGeom>
            <a:avLst/>
            <a:gdLst/>
            <a:ahLst/>
            <a:cxnLst/>
            <a:rect l="l" t="t" r="r" b="b"/>
            <a:pathLst>
              <a:path w="3387507" h="3387507">
                <a:moveTo>
                  <a:pt x="0" y="0"/>
                </a:moveTo>
                <a:lnTo>
                  <a:pt x="3387507" y="0"/>
                </a:lnTo>
                <a:lnTo>
                  <a:pt x="3387507" y="3387507"/>
                </a:lnTo>
                <a:lnTo>
                  <a:pt x="0" y="338750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TR"/>
          </a:p>
        </p:txBody>
      </p:sp>
      <p:grpSp>
        <p:nvGrpSpPr>
          <p:cNvPr id="3" name="Group 3"/>
          <p:cNvGrpSpPr/>
          <p:nvPr/>
        </p:nvGrpSpPr>
        <p:grpSpPr>
          <a:xfrm>
            <a:off x="11034154" y="1897532"/>
            <a:ext cx="5246370" cy="7360768"/>
            <a:chOff x="0" y="0"/>
            <a:chExt cx="812800" cy="1140376"/>
          </a:xfrm>
        </p:grpSpPr>
        <p:sp>
          <p:nvSpPr>
            <p:cNvPr id="4" name="Freeform 4"/>
            <p:cNvSpPr/>
            <p:nvPr/>
          </p:nvSpPr>
          <p:spPr>
            <a:xfrm>
              <a:off x="0" y="0"/>
              <a:ext cx="812800" cy="1140376"/>
            </a:xfrm>
            <a:custGeom>
              <a:avLst/>
              <a:gdLst/>
              <a:ahLst/>
              <a:cxnLst/>
              <a:rect l="l" t="t" r="r" b="b"/>
              <a:pathLst>
                <a:path w="812800" h="1140376">
                  <a:moveTo>
                    <a:pt x="0" y="0"/>
                  </a:moveTo>
                  <a:lnTo>
                    <a:pt x="812800" y="0"/>
                  </a:lnTo>
                  <a:lnTo>
                    <a:pt x="812800" y="1140376"/>
                  </a:lnTo>
                  <a:lnTo>
                    <a:pt x="0" y="1140376"/>
                  </a:lnTo>
                  <a:close/>
                </a:path>
              </a:pathLst>
            </a:custGeom>
            <a:blipFill>
              <a:blip r:embed="rId4"/>
              <a:stretch>
                <a:fillRect t="-3489" b="-3489"/>
              </a:stretch>
            </a:blipFill>
          </p:spPr>
          <p:txBody>
            <a:bodyPr/>
            <a:lstStyle/>
            <a:p>
              <a:endParaRPr lang="en-TR"/>
            </a:p>
          </p:txBody>
        </p:sp>
      </p:grpSp>
      <p:sp>
        <p:nvSpPr>
          <p:cNvPr id="5" name="Freeform 5"/>
          <p:cNvSpPr/>
          <p:nvPr/>
        </p:nvSpPr>
        <p:spPr>
          <a:xfrm>
            <a:off x="6966406" y="5838939"/>
            <a:ext cx="7324344" cy="8229600"/>
          </a:xfrm>
          <a:custGeom>
            <a:avLst/>
            <a:gdLst/>
            <a:ahLst/>
            <a:cxnLst/>
            <a:rect l="l" t="t" r="r" b="b"/>
            <a:pathLst>
              <a:path w="7324344" h="8229600">
                <a:moveTo>
                  <a:pt x="0" y="0"/>
                </a:moveTo>
                <a:lnTo>
                  <a:pt x="7324344" y="0"/>
                </a:lnTo>
                <a:lnTo>
                  <a:pt x="7324344" y="8229600"/>
                </a:lnTo>
                <a:lnTo>
                  <a:pt x="0" y="8229600"/>
                </a:lnTo>
                <a:lnTo>
                  <a:pt x="0" y="0"/>
                </a:lnTo>
                <a:close/>
              </a:path>
            </a:pathLst>
          </a:custGeom>
          <a:blipFill>
            <a:blip r:embed="rId5"/>
            <a:stretch>
              <a:fillRect/>
            </a:stretch>
          </a:blipFill>
        </p:spPr>
        <p:txBody>
          <a:bodyPr/>
          <a:lstStyle/>
          <a:p>
            <a:endParaRPr lang="en-TR"/>
          </a:p>
        </p:txBody>
      </p:sp>
      <p:sp>
        <p:nvSpPr>
          <p:cNvPr id="6" name="Freeform 6"/>
          <p:cNvSpPr/>
          <p:nvPr/>
        </p:nvSpPr>
        <p:spPr>
          <a:xfrm>
            <a:off x="16675446" y="8216866"/>
            <a:ext cx="583854" cy="1041434"/>
          </a:xfrm>
          <a:custGeom>
            <a:avLst/>
            <a:gdLst/>
            <a:ahLst/>
            <a:cxnLst/>
            <a:rect l="l" t="t" r="r" b="b"/>
            <a:pathLst>
              <a:path w="583854" h="1041434">
                <a:moveTo>
                  <a:pt x="0" y="0"/>
                </a:moveTo>
                <a:lnTo>
                  <a:pt x="583854" y="0"/>
                </a:lnTo>
                <a:lnTo>
                  <a:pt x="583854" y="1041434"/>
                </a:lnTo>
                <a:lnTo>
                  <a:pt x="0" y="104143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TR"/>
          </a:p>
        </p:txBody>
      </p:sp>
      <p:sp>
        <p:nvSpPr>
          <p:cNvPr id="7" name="TextBox 7"/>
          <p:cNvSpPr txBox="1"/>
          <p:nvPr/>
        </p:nvSpPr>
        <p:spPr>
          <a:xfrm>
            <a:off x="606208" y="762214"/>
            <a:ext cx="6094113" cy="5076725"/>
          </a:xfrm>
          <a:prstGeom prst="rect">
            <a:avLst/>
          </a:prstGeom>
        </p:spPr>
        <p:txBody>
          <a:bodyPr lIns="0" tIns="0" rIns="0" bIns="0" rtlCol="0" anchor="t">
            <a:spAutoFit/>
          </a:bodyPr>
          <a:lstStyle/>
          <a:p>
            <a:pPr algn="l">
              <a:lnSpc>
                <a:spcPts val="8018"/>
              </a:lnSpc>
            </a:pPr>
            <a:r>
              <a:rPr lang="en-US" sz="7493" b="1">
                <a:solidFill>
                  <a:srgbClr val="FFFFFF"/>
                </a:solidFill>
                <a:latin typeface="Garet Bold"/>
                <a:ea typeface="Garet Bold"/>
                <a:cs typeface="Garet Bold"/>
                <a:sym typeface="Garet Bold"/>
              </a:rPr>
              <a:t>Why do we need the Claude Sonnet Model?</a:t>
            </a:r>
          </a:p>
        </p:txBody>
      </p:sp>
      <p:sp>
        <p:nvSpPr>
          <p:cNvPr id="8" name="TextBox 8"/>
          <p:cNvSpPr txBox="1"/>
          <p:nvPr/>
        </p:nvSpPr>
        <p:spPr>
          <a:xfrm>
            <a:off x="606208" y="6235021"/>
            <a:ext cx="8514310" cy="3242092"/>
          </a:xfrm>
          <a:prstGeom prst="rect">
            <a:avLst/>
          </a:prstGeom>
        </p:spPr>
        <p:txBody>
          <a:bodyPr lIns="0" tIns="0" rIns="0" bIns="0" rtlCol="0" anchor="t">
            <a:spAutoFit/>
          </a:bodyPr>
          <a:lstStyle/>
          <a:p>
            <a:pPr algn="l">
              <a:lnSpc>
                <a:spcPts val="2865"/>
              </a:lnSpc>
              <a:spcBef>
                <a:spcPct val="0"/>
              </a:spcBef>
            </a:pPr>
            <a:r>
              <a:rPr lang="en-US" sz="2046">
                <a:solidFill>
                  <a:srgbClr val="FFFFFF"/>
                </a:solidFill>
                <a:latin typeface="Garet Light"/>
                <a:ea typeface="Garet Light"/>
                <a:cs typeface="Garet Light"/>
                <a:sym typeface="Garet Light"/>
              </a:rPr>
              <a:t>     In modern large-scale systems, traditional automation relies on brittle scripts that break when environments change. We need models like Claude Sonnet because they introduce agentic reasoning. Instead of just autocomplete, Sonnet can autonomously navigate massive codebases (using its massive 1-million-token context window), understand complex system architectures, and execute long-horizon software engineering tasks (like migrating legacy systems or building full-stack apps from a spec) without losing context.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21B74"/>
        </a:solidFill>
        <a:effectLst/>
      </p:bgPr>
    </p:bg>
    <p:spTree>
      <p:nvGrpSpPr>
        <p:cNvPr id="1" name=""/>
        <p:cNvGrpSpPr/>
        <p:nvPr/>
      </p:nvGrpSpPr>
      <p:grpSpPr>
        <a:xfrm>
          <a:off x="0" y="0"/>
          <a:ext cx="0" cy="0"/>
          <a:chOff x="0" y="0"/>
          <a:chExt cx="0" cy="0"/>
        </a:xfrm>
      </p:grpSpPr>
      <p:grpSp>
        <p:nvGrpSpPr>
          <p:cNvPr id="2" name="Group 2"/>
          <p:cNvGrpSpPr/>
          <p:nvPr/>
        </p:nvGrpSpPr>
        <p:grpSpPr>
          <a:xfrm>
            <a:off x="1028700" y="-243024"/>
            <a:ext cx="5498569" cy="5317954"/>
            <a:chOff x="0" y="0"/>
            <a:chExt cx="851872" cy="823890"/>
          </a:xfrm>
        </p:grpSpPr>
        <p:sp>
          <p:nvSpPr>
            <p:cNvPr id="3" name="Freeform 3"/>
            <p:cNvSpPr/>
            <p:nvPr/>
          </p:nvSpPr>
          <p:spPr>
            <a:xfrm>
              <a:off x="0" y="0"/>
              <a:ext cx="851872" cy="823890"/>
            </a:xfrm>
            <a:custGeom>
              <a:avLst/>
              <a:gdLst/>
              <a:ahLst/>
              <a:cxnLst/>
              <a:rect l="l" t="t" r="r" b="b"/>
              <a:pathLst>
                <a:path w="851872" h="823890">
                  <a:moveTo>
                    <a:pt x="0" y="0"/>
                  </a:moveTo>
                  <a:lnTo>
                    <a:pt x="851872" y="0"/>
                  </a:lnTo>
                  <a:lnTo>
                    <a:pt x="851872" y="823890"/>
                  </a:lnTo>
                  <a:lnTo>
                    <a:pt x="0" y="823890"/>
                  </a:lnTo>
                  <a:close/>
                </a:path>
              </a:pathLst>
            </a:custGeom>
            <a:blipFill>
              <a:blip r:embed="rId2"/>
              <a:stretch>
                <a:fillRect l="-77729" r="-8821" b="-28511"/>
              </a:stretch>
            </a:blipFill>
          </p:spPr>
          <p:txBody>
            <a:bodyPr/>
            <a:lstStyle/>
            <a:p>
              <a:endParaRPr lang="en-TR"/>
            </a:p>
          </p:txBody>
        </p:sp>
      </p:grpSp>
      <p:grpSp>
        <p:nvGrpSpPr>
          <p:cNvPr id="4" name="Group 4"/>
          <p:cNvGrpSpPr/>
          <p:nvPr/>
        </p:nvGrpSpPr>
        <p:grpSpPr>
          <a:xfrm>
            <a:off x="1028700" y="5789305"/>
            <a:ext cx="7353199" cy="1768319"/>
            <a:chOff x="0" y="0"/>
            <a:chExt cx="2037360" cy="489950"/>
          </a:xfrm>
        </p:grpSpPr>
        <p:sp>
          <p:nvSpPr>
            <p:cNvPr id="5" name="Freeform 5"/>
            <p:cNvSpPr/>
            <p:nvPr/>
          </p:nvSpPr>
          <p:spPr>
            <a:xfrm>
              <a:off x="0" y="0"/>
              <a:ext cx="2037360" cy="489950"/>
            </a:xfrm>
            <a:custGeom>
              <a:avLst/>
              <a:gdLst/>
              <a:ahLst/>
              <a:cxnLst/>
              <a:rect l="l" t="t" r="r" b="b"/>
              <a:pathLst>
                <a:path w="2037360" h="489950">
                  <a:moveTo>
                    <a:pt x="1834160" y="0"/>
                  </a:moveTo>
                  <a:cubicBezTo>
                    <a:pt x="1946384" y="0"/>
                    <a:pt x="2037360" y="109679"/>
                    <a:pt x="2037360" y="244975"/>
                  </a:cubicBezTo>
                  <a:cubicBezTo>
                    <a:pt x="2037360" y="380271"/>
                    <a:pt x="1946384" y="489950"/>
                    <a:pt x="1834160" y="489950"/>
                  </a:cubicBezTo>
                  <a:lnTo>
                    <a:pt x="203200" y="489950"/>
                  </a:lnTo>
                  <a:cubicBezTo>
                    <a:pt x="90976" y="489950"/>
                    <a:pt x="0" y="380271"/>
                    <a:pt x="0" y="244975"/>
                  </a:cubicBezTo>
                  <a:cubicBezTo>
                    <a:pt x="0" y="109679"/>
                    <a:pt x="90976" y="0"/>
                    <a:pt x="203200" y="0"/>
                  </a:cubicBezTo>
                  <a:close/>
                </a:path>
              </a:pathLst>
            </a:custGeom>
            <a:ln w="38100" cap="sq">
              <a:solidFill>
                <a:srgbClr val="38B6FF"/>
              </a:solidFill>
              <a:prstDash val="solid"/>
              <a:miter/>
            </a:ln>
          </p:spPr>
          <p:txBody>
            <a:bodyPr/>
            <a:lstStyle/>
            <a:p>
              <a:endParaRPr lang="en-TR"/>
            </a:p>
          </p:txBody>
        </p:sp>
        <p:sp>
          <p:nvSpPr>
            <p:cNvPr id="6" name="TextBox 6"/>
            <p:cNvSpPr txBox="1"/>
            <p:nvPr/>
          </p:nvSpPr>
          <p:spPr>
            <a:xfrm>
              <a:off x="0" y="-38100"/>
              <a:ext cx="2037360" cy="528050"/>
            </a:xfrm>
            <a:prstGeom prst="rect">
              <a:avLst/>
            </a:prstGeom>
          </p:spPr>
          <p:txBody>
            <a:bodyPr lIns="50800" tIns="50800" rIns="50800" bIns="50800" rtlCol="0" anchor="ctr"/>
            <a:lstStyle/>
            <a:p>
              <a:pPr algn="ctr">
                <a:lnSpc>
                  <a:spcPts val="3070"/>
                </a:lnSpc>
              </a:pPr>
              <a:endParaRPr/>
            </a:p>
          </p:txBody>
        </p:sp>
      </p:grpSp>
      <p:grpSp>
        <p:nvGrpSpPr>
          <p:cNvPr id="7" name="Group 7"/>
          <p:cNvGrpSpPr/>
          <p:nvPr/>
        </p:nvGrpSpPr>
        <p:grpSpPr>
          <a:xfrm>
            <a:off x="8688001" y="5789305"/>
            <a:ext cx="7353199" cy="1768319"/>
            <a:chOff x="0" y="0"/>
            <a:chExt cx="2037360" cy="489950"/>
          </a:xfrm>
        </p:grpSpPr>
        <p:sp>
          <p:nvSpPr>
            <p:cNvPr id="8" name="Freeform 8"/>
            <p:cNvSpPr/>
            <p:nvPr/>
          </p:nvSpPr>
          <p:spPr>
            <a:xfrm>
              <a:off x="0" y="0"/>
              <a:ext cx="2037360" cy="489950"/>
            </a:xfrm>
            <a:custGeom>
              <a:avLst/>
              <a:gdLst/>
              <a:ahLst/>
              <a:cxnLst/>
              <a:rect l="l" t="t" r="r" b="b"/>
              <a:pathLst>
                <a:path w="2037360" h="489950">
                  <a:moveTo>
                    <a:pt x="1834160" y="0"/>
                  </a:moveTo>
                  <a:cubicBezTo>
                    <a:pt x="1946384" y="0"/>
                    <a:pt x="2037360" y="109679"/>
                    <a:pt x="2037360" y="244975"/>
                  </a:cubicBezTo>
                  <a:cubicBezTo>
                    <a:pt x="2037360" y="380271"/>
                    <a:pt x="1946384" y="489950"/>
                    <a:pt x="1834160" y="489950"/>
                  </a:cubicBezTo>
                  <a:lnTo>
                    <a:pt x="203200" y="489950"/>
                  </a:lnTo>
                  <a:cubicBezTo>
                    <a:pt x="90976" y="489950"/>
                    <a:pt x="0" y="380271"/>
                    <a:pt x="0" y="244975"/>
                  </a:cubicBezTo>
                  <a:cubicBezTo>
                    <a:pt x="0" y="109679"/>
                    <a:pt x="90976" y="0"/>
                    <a:pt x="203200" y="0"/>
                  </a:cubicBezTo>
                  <a:close/>
                </a:path>
              </a:pathLst>
            </a:custGeom>
            <a:ln w="38100" cap="sq">
              <a:solidFill>
                <a:srgbClr val="38B6FF"/>
              </a:solidFill>
              <a:prstDash val="solid"/>
              <a:miter/>
            </a:ln>
          </p:spPr>
          <p:txBody>
            <a:bodyPr/>
            <a:lstStyle/>
            <a:p>
              <a:endParaRPr lang="en-TR"/>
            </a:p>
          </p:txBody>
        </p:sp>
        <p:sp>
          <p:nvSpPr>
            <p:cNvPr id="9" name="TextBox 9"/>
            <p:cNvSpPr txBox="1"/>
            <p:nvPr/>
          </p:nvSpPr>
          <p:spPr>
            <a:xfrm>
              <a:off x="0" y="-38100"/>
              <a:ext cx="2037360" cy="528050"/>
            </a:xfrm>
            <a:prstGeom prst="rect">
              <a:avLst/>
            </a:prstGeom>
          </p:spPr>
          <p:txBody>
            <a:bodyPr lIns="50800" tIns="50800" rIns="50800" bIns="50800" rtlCol="0" anchor="ctr"/>
            <a:lstStyle/>
            <a:p>
              <a:pPr algn="ctr">
                <a:lnSpc>
                  <a:spcPts val="3070"/>
                </a:lnSpc>
              </a:pPr>
              <a:endParaRPr/>
            </a:p>
          </p:txBody>
        </p:sp>
      </p:grpSp>
      <p:grpSp>
        <p:nvGrpSpPr>
          <p:cNvPr id="10" name="Group 10"/>
          <p:cNvGrpSpPr/>
          <p:nvPr/>
        </p:nvGrpSpPr>
        <p:grpSpPr>
          <a:xfrm>
            <a:off x="1028700" y="7751375"/>
            <a:ext cx="7353199" cy="1792520"/>
            <a:chOff x="0" y="0"/>
            <a:chExt cx="2037360" cy="496656"/>
          </a:xfrm>
        </p:grpSpPr>
        <p:sp>
          <p:nvSpPr>
            <p:cNvPr id="11" name="Freeform 11"/>
            <p:cNvSpPr/>
            <p:nvPr/>
          </p:nvSpPr>
          <p:spPr>
            <a:xfrm>
              <a:off x="0" y="0"/>
              <a:ext cx="2037360" cy="496656"/>
            </a:xfrm>
            <a:custGeom>
              <a:avLst/>
              <a:gdLst/>
              <a:ahLst/>
              <a:cxnLst/>
              <a:rect l="l" t="t" r="r" b="b"/>
              <a:pathLst>
                <a:path w="2037360" h="496656">
                  <a:moveTo>
                    <a:pt x="1834160" y="0"/>
                  </a:moveTo>
                  <a:cubicBezTo>
                    <a:pt x="1946384" y="0"/>
                    <a:pt x="2037360" y="111180"/>
                    <a:pt x="2037360" y="248328"/>
                  </a:cubicBezTo>
                  <a:cubicBezTo>
                    <a:pt x="2037360" y="385476"/>
                    <a:pt x="1946384" y="496656"/>
                    <a:pt x="1834160" y="496656"/>
                  </a:cubicBezTo>
                  <a:lnTo>
                    <a:pt x="203200" y="496656"/>
                  </a:lnTo>
                  <a:cubicBezTo>
                    <a:pt x="90976" y="496656"/>
                    <a:pt x="0" y="385476"/>
                    <a:pt x="0" y="248328"/>
                  </a:cubicBezTo>
                  <a:cubicBezTo>
                    <a:pt x="0" y="111180"/>
                    <a:pt x="90976" y="0"/>
                    <a:pt x="203200" y="0"/>
                  </a:cubicBezTo>
                  <a:close/>
                </a:path>
              </a:pathLst>
            </a:custGeom>
            <a:ln w="38100" cap="sq">
              <a:solidFill>
                <a:srgbClr val="38B6FF"/>
              </a:solidFill>
              <a:prstDash val="solid"/>
              <a:miter/>
            </a:ln>
          </p:spPr>
          <p:txBody>
            <a:bodyPr/>
            <a:lstStyle/>
            <a:p>
              <a:endParaRPr lang="en-TR"/>
            </a:p>
          </p:txBody>
        </p:sp>
        <p:sp>
          <p:nvSpPr>
            <p:cNvPr id="12" name="TextBox 12"/>
            <p:cNvSpPr txBox="1"/>
            <p:nvPr/>
          </p:nvSpPr>
          <p:spPr>
            <a:xfrm>
              <a:off x="0" y="-38100"/>
              <a:ext cx="2037360" cy="534756"/>
            </a:xfrm>
            <a:prstGeom prst="rect">
              <a:avLst/>
            </a:prstGeom>
          </p:spPr>
          <p:txBody>
            <a:bodyPr lIns="50800" tIns="50800" rIns="50800" bIns="50800" rtlCol="0" anchor="ctr"/>
            <a:lstStyle/>
            <a:p>
              <a:pPr algn="ctr">
                <a:lnSpc>
                  <a:spcPts val="3070"/>
                </a:lnSpc>
              </a:pPr>
              <a:endParaRPr/>
            </a:p>
          </p:txBody>
        </p:sp>
      </p:grpSp>
      <p:grpSp>
        <p:nvGrpSpPr>
          <p:cNvPr id="13" name="Group 13"/>
          <p:cNvGrpSpPr/>
          <p:nvPr/>
        </p:nvGrpSpPr>
        <p:grpSpPr>
          <a:xfrm>
            <a:off x="8688001" y="7751375"/>
            <a:ext cx="7353199" cy="1792520"/>
            <a:chOff x="0" y="0"/>
            <a:chExt cx="2037360" cy="496656"/>
          </a:xfrm>
        </p:grpSpPr>
        <p:sp>
          <p:nvSpPr>
            <p:cNvPr id="14" name="Freeform 14"/>
            <p:cNvSpPr/>
            <p:nvPr/>
          </p:nvSpPr>
          <p:spPr>
            <a:xfrm>
              <a:off x="0" y="0"/>
              <a:ext cx="2037360" cy="496656"/>
            </a:xfrm>
            <a:custGeom>
              <a:avLst/>
              <a:gdLst/>
              <a:ahLst/>
              <a:cxnLst/>
              <a:rect l="l" t="t" r="r" b="b"/>
              <a:pathLst>
                <a:path w="2037360" h="496656">
                  <a:moveTo>
                    <a:pt x="1834160" y="0"/>
                  </a:moveTo>
                  <a:cubicBezTo>
                    <a:pt x="1946384" y="0"/>
                    <a:pt x="2037360" y="111180"/>
                    <a:pt x="2037360" y="248328"/>
                  </a:cubicBezTo>
                  <a:cubicBezTo>
                    <a:pt x="2037360" y="385476"/>
                    <a:pt x="1946384" y="496656"/>
                    <a:pt x="1834160" y="496656"/>
                  </a:cubicBezTo>
                  <a:lnTo>
                    <a:pt x="203200" y="496656"/>
                  </a:lnTo>
                  <a:cubicBezTo>
                    <a:pt x="90976" y="496656"/>
                    <a:pt x="0" y="385476"/>
                    <a:pt x="0" y="248328"/>
                  </a:cubicBezTo>
                  <a:cubicBezTo>
                    <a:pt x="0" y="111180"/>
                    <a:pt x="90976" y="0"/>
                    <a:pt x="203200" y="0"/>
                  </a:cubicBezTo>
                  <a:close/>
                </a:path>
              </a:pathLst>
            </a:custGeom>
            <a:ln w="38100" cap="sq">
              <a:solidFill>
                <a:srgbClr val="38B6FF"/>
              </a:solidFill>
              <a:prstDash val="solid"/>
              <a:miter/>
            </a:ln>
          </p:spPr>
          <p:txBody>
            <a:bodyPr/>
            <a:lstStyle/>
            <a:p>
              <a:endParaRPr lang="en-TR"/>
            </a:p>
          </p:txBody>
        </p:sp>
        <p:sp>
          <p:nvSpPr>
            <p:cNvPr id="15" name="TextBox 15"/>
            <p:cNvSpPr txBox="1"/>
            <p:nvPr/>
          </p:nvSpPr>
          <p:spPr>
            <a:xfrm>
              <a:off x="0" y="-38100"/>
              <a:ext cx="2037360" cy="534756"/>
            </a:xfrm>
            <a:prstGeom prst="rect">
              <a:avLst/>
            </a:prstGeom>
          </p:spPr>
          <p:txBody>
            <a:bodyPr lIns="50800" tIns="50800" rIns="50800" bIns="50800" rtlCol="0" anchor="ctr"/>
            <a:lstStyle/>
            <a:p>
              <a:pPr algn="ctr">
                <a:lnSpc>
                  <a:spcPts val="3070"/>
                </a:lnSpc>
              </a:pPr>
              <a:endParaRPr/>
            </a:p>
          </p:txBody>
        </p:sp>
      </p:grpSp>
      <p:sp>
        <p:nvSpPr>
          <p:cNvPr id="16" name="Freeform 16"/>
          <p:cNvSpPr/>
          <p:nvPr/>
        </p:nvSpPr>
        <p:spPr>
          <a:xfrm rot="5400000">
            <a:off x="1473069" y="6257492"/>
            <a:ext cx="530396" cy="530396"/>
          </a:xfrm>
          <a:custGeom>
            <a:avLst/>
            <a:gdLst/>
            <a:ahLst/>
            <a:cxnLst/>
            <a:rect l="l" t="t" r="r" b="b"/>
            <a:pathLst>
              <a:path w="530396" h="530396">
                <a:moveTo>
                  <a:pt x="0" y="0"/>
                </a:moveTo>
                <a:lnTo>
                  <a:pt x="530395" y="0"/>
                </a:lnTo>
                <a:lnTo>
                  <a:pt x="530395" y="530396"/>
                </a:lnTo>
                <a:lnTo>
                  <a:pt x="0" y="53039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TR"/>
          </a:p>
        </p:txBody>
      </p:sp>
      <p:sp>
        <p:nvSpPr>
          <p:cNvPr id="17" name="Freeform 17"/>
          <p:cNvSpPr/>
          <p:nvPr/>
        </p:nvSpPr>
        <p:spPr>
          <a:xfrm rot="5400000">
            <a:off x="9132370" y="6257492"/>
            <a:ext cx="530396" cy="530396"/>
          </a:xfrm>
          <a:custGeom>
            <a:avLst/>
            <a:gdLst/>
            <a:ahLst/>
            <a:cxnLst/>
            <a:rect l="l" t="t" r="r" b="b"/>
            <a:pathLst>
              <a:path w="530396" h="530396">
                <a:moveTo>
                  <a:pt x="0" y="0"/>
                </a:moveTo>
                <a:lnTo>
                  <a:pt x="530396" y="0"/>
                </a:lnTo>
                <a:lnTo>
                  <a:pt x="530396" y="530396"/>
                </a:lnTo>
                <a:lnTo>
                  <a:pt x="0" y="53039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TR"/>
          </a:p>
        </p:txBody>
      </p:sp>
      <p:sp>
        <p:nvSpPr>
          <p:cNvPr id="18" name="Freeform 18"/>
          <p:cNvSpPr/>
          <p:nvPr/>
        </p:nvSpPr>
        <p:spPr>
          <a:xfrm rot="5400000">
            <a:off x="1473069" y="8219563"/>
            <a:ext cx="530396" cy="530396"/>
          </a:xfrm>
          <a:custGeom>
            <a:avLst/>
            <a:gdLst/>
            <a:ahLst/>
            <a:cxnLst/>
            <a:rect l="l" t="t" r="r" b="b"/>
            <a:pathLst>
              <a:path w="530396" h="530396">
                <a:moveTo>
                  <a:pt x="0" y="0"/>
                </a:moveTo>
                <a:lnTo>
                  <a:pt x="530395" y="0"/>
                </a:lnTo>
                <a:lnTo>
                  <a:pt x="530395" y="530396"/>
                </a:lnTo>
                <a:lnTo>
                  <a:pt x="0" y="53039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TR"/>
          </a:p>
        </p:txBody>
      </p:sp>
      <p:sp>
        <p:nvSpPr>
          <p:cNvPr id="19" name="Freeform 19"/>
          <p:cNvSpPr/>
          <p:nvPr/>
        </p:nvSpPr>
        <p:spPr>
          <a:xfrm rot="5400000">
            <a:off x="9132370" y="8219563"/>
            <a:ext cx="530396" cy="530396"/>
          </a:xfrm>
          <a:custGeom>
            <a:avLst/>
            <a:gdLst/>
            <a:ahLst/>
            <a:cxnLst/>
            <a:rect l="l" t="t" r="r" b="b"/>
            <a:pathLst>
              <a:path w="530396" h="530396">
                <a:moveTo>
                  <a:pt x="0" y="0"/>
                </a:moveTo>
                <a:lnTo>
                  <a:pt x="530396" y="0"/>
                </a:lnTo>
                <a:lnTo>
                  <a:pt x="530396" y="530396"/>
                </a:lnTo>
                <a:lnTo>
                  <a:pt x="0" y="53039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TR"/>
          </a:p>
        </p:txBody>
      </p:sp>
      <p:sp>
        <p:nvSpPr>
          <p:cNvPr id="20" name="Freeform 20"/>
          <p:cNvSpPr/>
          <p:nvPr/>
        </p:nvSpPr>
        <p:spPr>
          <a:xfrm>
            <a:off x="13597128" y="-3505543"/>
            <a:ext cx="7324344" cy="8229600"/>
          </a:xfrm>
          <a:custGeom>
            <a:avLst/>
            <a:gdLst/>
            <a:ahLst/>
            <a:cxnLst/>
            <a:rect l="l" t="t" r="r" b="b"/>
            <a:pathLst>
              <a:path w="7324344" h="8229600">
                <a:moveTo>
                  <a:pt x="0" y="0"/>
                </a:moveTo>
                <a:lnTo>
                  <a:pt x="7324344" y="0"/>
                </a:lnTo>
                <a:lnTo>
                  <a:pt x="7324344" y="8229600"/>
                </a:lnTo>
                <a:lnTo>
                  <a:pt x="0" y="8229600"/>
                </a:lnTo>
                <a:lnTo>
                  <a:pt x="0" y="0"/>
                </a:lnTo>
                <a:close/>
              </a:path>
            </a:pathLst>
          </a:custGeom>
          <a:blipFill>
            <a:blip r:embed="rId5"/>
            <a:stretch>
              <a:fillRect/>
            </a:stretch>
          </a:blipFill>
        </p:spPr>
        <p:txBody>
          <a:bodyPr/>
          <a:lstStyle/>
          <a:p>
            <a:endParaRPr lang="en-TR"/>
          </a:p>
        </p:txBody>
      </p:sp>
      <p:sp>
        <p:nvSpPr>
          <p:cNvPr id="21" name="TextBox 21"/>
          <p:cNvSpPr txBox="1"/>
          <p:nvPr/>
        </p:nvSpPr>
        <p:spPr>
          <a:xfrm>
            <a:off x="7022920" y="1531730"/>
            <a:ext cx="9018281" cy="4067075"/>
          </a:xfrm>
          <a:prstGeom prst="rect">
            <a:avLst/>
          </a:prstGeom>
        </p:spPr>
        <p:txBody>
          <a:bodyPr lIns="0" tIns="0" rIns="0" bIns="0" rtlCol="0" anchor="t">
            <a:spAutoFit/>
          </a:bodyPr>
          <a:lstStyle/>
          <a:p>
            <a:pPr algn="l">
              <a:lnSpc>
                <a:spcPts val="8018"/>
              </a:lnSpc>
            </a:pPr>
            <a:r>
              <a:rPr lang="en-US" sz="7493" b="1">
                <a:solidFill>
                  <a:srgbClr val="FFFFFF"/>
                </a:solidFill>
                <a:latin typeface="Garet Bold"/>
                <a:ea typeface="Garet Bold"/>
                <a:cs typeface="Garet Bold"/>
                <a:sym typeface="Garet Bold"/>
              </a:rPr>
              <a:t>What sort of apps is Claude Sonnet good for?</a:t>
            </a:r>
          </a:p>
          <a:p>
            <a:pPr algn="l">
              <a:lnSpc>
                <a:spcPts val="8018"/>
              </a:lnSpc>
            </a:pPr>
            <a:endParaRPr lang="en-US" sz="7493" b="1">
              <a:solidFill>
                <a:srgbClr val="FFFFFF"/>
              </a:solidFill>
              <a:latin typeface="Garet Bold"/>
              <a:ea typeface="Garet Bold"/>
              <a:cs typeface="Garet Bold"/>
              <a:sym typeface="Garet Bold"/>
            </a:endParaRPr>
          </a:p>
        </p:txBody>
      </p:sp>
      <p:sp>
        <p:nvSpPr>
          <p:cNvPr id="22" name="Freeform 22"/>
          <p:cNvSpPr/>
          <p:nvPr/>
        </p:nvSpPr>
        <p:spPr>
          <a:xfrm rot="1711312" flipH="1">
            <a:off x="16818514" y="9223286"/>
            <a:ext cx="700785" cy="641219"/>
          </a:xfrm>
          <a:custGeom>
            <a:avLst/>
            <a:gdLst/>
            <a:ahLst/>
            <a:cxnLst/>
            <a:rect l="l" t="t" r="r" b="b"/>
            <a:pathLst>
              <a:path w="700785" h="641219">
                <a:moveTo>
                  <a:pt x="700786" y="0"/>
                </a:moveTo>
                <a:lnTo>
                  <a:pt x="0" y="0"/>
                </a:lnTo>
                <a:lnTo>
                  <a:pt x="0" y="641219"/>
                </a:lnTo>
                <a:lnTo>
                  <a:pt x="700786" y="641219"/>
                </a:lnTo>
                <a:lnTo>
                  <a:pt x="700786"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TR"/>
          </a:p>
        </p:txBody>
      </p:sp>
      <p:sp>
        <p:nvSpPr>
          <p:cNvPr id="23" name="TextBox 23"/>
          <p:cNvSpPr txBox="1"/>
          <p:nvPr/>
        </p:nvSpPr>
        <p:spPr>
          <a:xfrm>
            <a:off x="2286399" y="5959985"/>
            <a:ext cx="5738841" cy="1438503"/>
          </a:xfrm>
          <a:prstGeom prst="rect">
            <a:avLst/>
          </a:prstGeom>
        </p:spPr>
        <p:txBody>
          <a:bodyPr lIns="0" tIns="0" rIns="0" bIns="0" rtlCol="0" anchor="t">
            <a:spAutoFit/>
          </a:bodyPr>
          <a:lstStyle/>
          <a:p>
            <a:pPr algn="l">
              <a:lnSpc>
                <a:spcPts val="2865"/>
              </a:lnSpc>
              <a:spcBef>
                <a:spcPct val="0"/>
              </a:spcBef>
            </a:pPr>
            <a:r>
              <a:rPr lang="en-US" sz="2046">
                <a:solidFill>
                  <a:srgbClr val="FFFFFF"/>
                </a:solidFill>
                <a:latin typeface="Garet Light"/>
                <a:ea typeface="Garet Light"/>
                <a:cs typeface="Garet Light"/>
                <a:sym typeface="Garet Light"/>
              </a:rPr>
              <a:t>Autonomous Coding Agents: Powering tools (like Cline or Roo Code) that live inside IDEs to write, test, and debug code autonomously.</a:t>
            </a:r>
          </a:p>
        </p:txBody>
      </p:sp>
      <p:sp>
        <p:nvSpPr>
          <p:cNvPr id="24" name="TextBox 24"/>
          <p:cNvSpPr txBox="1"/>
          <p:nvPr/>
        </p:nvSpPr>
        <p:spPr>
          <a:xfrm>
            <a:off x="9945701" y="5959985"/>
            <a:ext cx="5738841" cy="1438503"/>
          </a:xfrm>
          <a:prstGeom prst="rect">
            <a:avLst/>
          </a:prstGeom>
        </p:spPr>
        <p:txBody>
          <a:bodyPr lIns="0" tIns="0" rIns="0" bIns="0" rtlCol="0" anchor="t">
            <a:spAutoFit/>
          </a:bodyPr>
          <a:lstStyle/>
          <a:p>
            <a:pPr algn="l">
              <a:lnSpc>
                <a:spcPts val="2865"/>
              </a:lnSpc>
              <a:spcBef>
                <a:spcPct val="0"/>
              </a:spcBef>
            </a:pPr>
            <a:r>
              <a:rPr lang="en-US" sz="2046">
                <a:solidFill>
                  <a:srgbClr val="FFFFFF"/>
                </a:solidFill>
                <a:latin typeface="Garet Light"/>
                <a:ea typeface="Garet Light"/>
                <a:cs typeface="Garet Light"/>
                <a:sym typeface="Garet Light"/>
              </a:rPr>
              <a:t>Intelligent CI/CD Pipelines: Automatically reviewing pull requests for bugs, performance bottlenecks, and security vulnerabilities before code is merged.</a:t>
            </a:r>
          </a:p>
        </p:txBody>
      </p:sp>
      <p:sp>
        <p:nvSpPr>
          <p:cNvPr id="25" name="TextBox 25"/>
          <p:cNvSpPr txBox="1"/>
          <p:nvPr/>
        </p:nvSpPr>
        <p:spPr>
          <a:xfrm>
            <a:off x="2286399" y="7922055"/>
            <a:ext cx="5738841" cy="1438503"/>
          </a:xfrm>
          <a:prstGeom prst="rect">
            <a:avLst/>
          </a:prstGeom>
        </p:spPr>
        <p:txBody>
          <a:bodyPr lIns="0" tIns="0" rIns="0" bIns="0" rtlCol="0" anchor="t">
            <a:spAutoFit/>
          </a:bodyPr>
          <a:lstStyle/>
          <a:p>
            <a:pPr algn="l">
              <a:lnSpc>
                <a:spcPts val="2865"/>
              </a:lnSpc>
              <a:spcBef>
                <a:spcPct val="0"/>
              </a:spcBef>
            </a:pPr>
            <a:r>
              <a:rPr lang="en-US" sz="2046">
                <a:solidFill>
                  <a:srgbClr val="FFFFFF"/>
                </a:solidFill>
                <a:latin typeface="Garet Light"/>
                <a:ea typeface="Garet Light"/>
                <a:cs typeface="Garet Light"/>
                <a:sym typeface="Garet Light"/>
              </a:rPr>
              <a:t>Enterprise RAG : Reading through thousands of pages of internal company documentation and code repositories to answer developer questions accurately.</a:t>
            </a:r>
          </a:p>
        </p:txBody>
      </p:sp>
      <p:sp>
        <p:nvSpPr>
          <p:cNvPr id="26" name="TextBox 26"/>
          <p:cNvSpPr txBox="1"/>
          <p:nvPr/>
        </p:nvSpPr>
        <p:spPr>
          <a:xfrm>
            <a:off x="9945701" y="7922055"/>
            <a:ext cx="5738841" cy="1438503"/>
          </a:xfrm>
          <a:prstGeom prst="rect">
            <a:avLst/>
          </a:prstGeom>
        </p:spPr>
        <p:txBody>
          <a:bodyPr lIns="0" tIns="0" rIns="0" bIns="0" rtlCol="0" anchor="t">
            <a:spAutoFit/>
          </a:bodyPr>
          <a:lstStyle/>
          <a:p>
            <a:pPr algn="l">
              <a:lnSpc>
                <a:spcPts val="2865"/>
              </a:lnSpc>
              <a:spcBef>
                <a:spcPct val="0"/>
              </a:spcBef>
            </a:pPr>
            <a:r>
              <a:rPr lang="en-US" sz="2046">
                <a:solidFill>
                  <a:srgbClr val="FFFFFF"/>
                </a:solidFill>
                <a:latin typeface="Garet Light"/>
                <a:ea typeface="Garet Light"/>
                <a:cs typeface="Garet Light"/>
                <a:sym typeface="Garet Light"/>
              </a:rPr>
              <a:t>UI/UX Prototyping: Generating functional, interactive frontend components directly from text descriptions or wireframe images.</a:t>
            </a:r>
          </a:p>
        </p:txBody>
      </p:sp>
      <p:sp>
        <p:nvSpPr>
          <p:cNvPr id="27" name="Freeform 27"/>
          <p:cNvSpPr/>
          <p:nvPr/>
        </p:nvSpPr>
        <p:spPr>
          <a:xfrm rot="2204389" flipH="1">
            <a:off x="17525354" y="9191318"/>
            <a:ext cx="526308" cy="481572"/>
          </a:xfrm>
          <a:custGeom>
            <a:avLst/>
            <a:gdLst/>
            <a:ahLst/>
            <a:cxnLst/>
            <a:rect l="l" t="t" r="r" b="b"/>
            <a:pathLst>
              <a:path w="526308" h="481572">
                <a:moveTo>
                  <a:pt x="526308" y="0"/>
                </a:moveTo>
                <a:lnTo>
                  <a:pt x="0" y="0"/>
                </a:lnTo>
                <a:lnTo>
                  <a:pt x="0" y="481572"/>
                </a:lnTo>
                <a:lnTo>
                  <a:pt x="526308" y="481572"/>
                </a:lnTo>
                <a:lnTo>
                  <a:pt x="526308"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T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21B74"/>
        </a:solidFill>
        <a:effectLst/>
      </p:bgPr>
    </p:bg>
    <p:spTree>
      <p:nvGrpSpPr>
        <p:cNvPr id="1" name=""/>
        <p:cNvGrpSpPr/>
        <p:nvPr/>
      </p:nvGrpSpPr>
      <p:grpSpPr>
        <a:xfrm>
          <a:off x="0" y="0"/>
          <a:ext cx="0" cy="0"/>
          <a:chOff x="0" y="0"/>
          <a:chExt cx="0" cy="0"/>
        </a:xfrm>
      </p:grpSpPr>
      <p:sp>
        <p:nvSpPr>
          <p:cNvPr id="2" name="TextBox 2"/>
          <p:cNvSpPr txBox="1"/>
          <p:nvPr/>
        </p:nvSpPr>
        <p:spPr>
          <a:xfrm>
            <a:off x="620679" y="558090"/>
            <a:ext cx="12930353" cy="2866871"/>
          </a:xfrm>
          <a:prstGeom prst="rect">
            <a:avLst/>
          </a:prstGeom>
        </p:spPr>
        <p:txBody>
          <a:bodyPr lIns="0" tIns="0" rIns="0" bIns="0" rtlCol="0" anchor="t">
            <a:spAutoFit/>
          </a:bodyPr>
          <a:lstStyle/>
          <a:p>
            <a:pPr algn="l">
              <a:lnSpc>
                <a:spcPts val="7493"/>
              </a:lnSpc>
            </a:pPr>
            <a:r>
              <a:rPr lang="en-US" sz="7493" b="1">
                <a:solidFill>
                  <a:srgbClr val="FFFFFF"/>
                </a:solidFill>
                <a:latin typeface="Garet Bold"/>
                <a:ea typeface="Garet Bold"/>
                <a:cs typeface="Garet Bold"/>
                <a:sym typeface="Garet Bold"/>
              </a:rPr>
              <a:t>What is the architecture and what services are available?</a:t>
            </a:r>
          </a:p>
        </p:txBody>
      </p:sp>
      <p:grpSp>
        <p:nvGrpSpPr>
          <p:cNvPr id="3" name="Group 3"/>
          <p:cNvGrpSpPr/>
          <p:nvPr/>
        </p:nvGrpSpPr>
        <p:grpSpPr>
          <a:xfrm>
            <a:off x="265961" y="4169311"/>
            <a:ext cx="5687217" cy="974189"/>
            <a:chOff x="0" y="0"/>
            <a:chExt cx="2032913" cy="348227"/>
          </a:xfrm>
        </p:grpSpPr>
        <p:sp>
          <p:nvSpPr>
            <p:cNvPr id="4" name="Freeform 4"/>
            <p:cNvSpPr/>
            <p:nvPr/>
          </p:nvSpPr>
          <p:spPr>
            <a:xfrm>
              <a:off x="0" y="0"/>
              <a:ext cx="2032913" cy="348227"/>
            </a:xfrm>
            <a:custGeom>
              <a:avLst/>
              <a:gdLst/>
              <a:ahLst/>
              <a:cxnLst/>
              <a:rect l="l" t="t" r="r" b="b"/>
              <a:pathLst>
                <a:path w="2032913" h="348227">
                  <a:moveTo>
                    <a:pt x="1829713" y="0"/>
                  </a:moveTo>
                  <a:cubicBezTo>
                    <a:pt x="1941938" y="0"/>
                    <a:pt x="2032913" y="77953"/>
                    <a:pt x="2032913" y="174113"/>
                  </a:cubicBezTo>
                  <a:cubicBezTo>
                    <a:pt x="2032913" y="270274"/>
                    <a:pt x="1941938" y="348227"/>
                    <a:pt x="1829713" y="348227"/>
                  </a:cubicBezTo>
                  <a:lnTo>
                    <a:pt x="203200" y="348227"/>
                  </a:lnTo>
                  <a:cubicBezTo>
                    <a:pt x="90976" y="348227"/>
                    <a:pt x="0" y="270274"/>
                    <a:pt x="0" y="174113"/>
                  </a:cubicBezTo>
                  <a:cubicBezTo>
                    <a:pt x="0" y="77953"/>
                    <a:pt x="90976" y="0"/>
                    <a:pt x="203200" y="0"/>
                  </a:cubicBezTo>
                  <a:close/>
                </a:path>
              </a:pathLst>
            </a:custGeom>
            <a:ln w="38100" cap="sq">
              <a:solidFill>
                <a:srgbClr val="38B6FF"/>
              </a:solidFill>
              <a:prstDash val="solid"/>
              <a:miter/>
            </a:ln>
          </p:spPr>
          <p:txBody>
            <a:bodyPr/>
            <a:lstStyle/>
            <a:p>
              <a:endParaRPr lang="en-TR"/>
            </a:p>
          </p:txBody>
        </p:sp>
        <p:sp>
          <p:nvSpPr>
            <p:cNvPr id="5" name="TextBox 5"/>
            <p:cNvSpPr txBox="1"/>
            <p:nvPr/>
          </p:nvSpPr>
          <p:spPr>
            <a:xfrm>
              <a:off x="0" y="-38100"/>
              <a:ext cx="2032913" cy="386327"/>
            </a:xfrm>
            <a:prstGeom prst="rect">
              <a:avLst/>
            </a:prstGeom>
          </p:spPr>
          <p:txBody>
            <a:bodyPr lIns="50800" tIns="50800" rIns="50800" bIns="50800" rtlCol="0" anchor="ctr"/>
            <a:lstStyle/>
            <a:p>
              <a:pPr algn="ctr">
                <a:lnSpc>
                  <a:spcPts val="3070"/>
                </a:lnSpc>
              </a:pPr>
              <a:endParaRPr/>
            </a:p>
          </p:txBody>
        </p:sp>
      </p:grpSp>
      <p:sp>
        <p:nvSpPr>
          <p:cNvPr id="6" name="TextBox 6"/>
          <p:cNvSpPr txBox="1"/>
          <p:nvPr/>
        </p:nvSpPr>
        <p:spPr>
          <a:xfrm>
            <a:off x="620679" y="4449657"/>
            <a:ext cx="5047378" cy="396240"/>
          </a:xfrm>
          <a:prstGeom prst="rect">
            <a:avLst/>
          </a:prstGeom>
        </p:spPr>
        <p:txBody>
          <a:bodyPr lIns="0" tIns="0" rIns="0" bIns="0" rtlCol="0" anchor="t">
            <a:spAutoFit/>
          </a:bodyPr>
          <a:lstStyle/>
          <a:p>
            <a:pPr algn="ctr">
              <a:lnSpc>
                <a:spcPts val="3359"/>
              </a:lnSpc>
              <a:spcBef>
                <a:spcPct val="0"/>
              </a:spcBef>
            </a:pPr>
            <a:r>
              <a:rPr lang="en-US" sz="2400" b="1">
                <a:solidFill>
                  <a:srgbClr val="FFFFFF"/>
                </a:solidFill>
                <a:latin typeface="Garet Bold"/>
                <a:ea typeface="Garet Bold"/>
                <a:cs typeface="Garet Bold"/>
                <a:sym typeface="Garet Bold"/>
              </a:rPr>
              <a:t>Hybrid Reasoning Architecture</a:t>
            </a:r>
          </a:p>
        </p:txBody>
      </p:sp>
      <p:sp>
        <p:nvSpPr>
          <p:cNvPr id="7" name="Freeform 7"/>
          <p:cNvSpPr/>
          <p:nvPr/>
        </p:nvSpPr>
        <p:spPr>
          <a:xfrm>
            <a:off x="14976735" y="4187269"/>
            <a:ext cx="7324344" cy="8229600"/>
          </a:xfrm>
          <a:custGeom>
            <a:avLst/>
            <a:gdLst/>
            <a:ahLst/>
            <a:cxnLst/>
            <a:rect l="l" t="t" r="r" b="b"/>
            <a:pathLst>
              <a:path w="7324344" h="8229600">
                <a:moveTo>
                  <a:pt x="0" y="0"/>
                </a:moveTo>
                <a:lnTo>
                  <a:pt x="7324344" y="0"/>
                </a:lnTo>
                <a:lnTo>
                  <a:pt x="7324344" y="8229600"/>
                </a:lnTo>
                <a:lnTo>
                  <a:pt x="0" y="8229600"/>
                </a:lnTo>
                <a:lnTo>
                  <a:pt x="0" y="0"/>
                </a:lnTo>
                <a:close/>
              </a:path>
            </a:pathLst>
          </a:custGeom>
          <a:blipFill>
            <a:blip r:embed="rId2"/>
            <a:stretch>
              <a:fillRect/>
            </a:stretch>
          </a:blipFill>
        </p:spPr>
        <p:txBody>
          <a:bodyPr/>
          <a:lstStyle/>
          <a:p>
            <a:endParaRPr lang="en-TR"/>
          </a:p>
        </p:txBody>
      </p:sp>
      <p:sp>
        <p:nvSpPr>
          <p:cNvPr id="8" name="Freeform 8"/>
          <p:cNvSpPr/>
          <p:nvPr/>
        </p:nvSpPr>
        <p:spPr>
          <a:xfrm rot="-5399999">
            <a:off x="17057641" y="1858884"/>
            <a:ext cx="771899" cy="368582"/>
          </a:xfrm>
          <a:custGeom>
            <a:avLst/>
            <a:gdLst/>
            <a:ahLst/>
            <a:cxnLst/>
            <a:rect l="l" t="t" r="r" b="b"/>
            <a:pathLst>
              <a:path w="771899" h="368582">
                <a:moveTo>
                  <a:pt x="0" y="0"/>
                </a:moveTo>
                <a:lnTo>
                  <a:pt x="771899" y="0"/>
                </a:lnTo>
                <a:lnTo>
                  <a:pt x="771899" y="368582"/>
                </a:lnTo>
                <a:lnTo>
                  <a:pt x="0" y="36858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TR"/>
          </a:p>
        </p:txBody>
      </p:sp>
      <p:grpSp>
        <p:nvGrpSpPr>
          <p:cNvPr id="9" name="Group 9"/>
          <p:cNvGrpSpPr/>
          <p:nvPr/>
        </p:nvGrpSpPr>
        <p:grpSpPr>
          <a:xfrm>
            <a:off x="265961" y="5531202"/>
            <a:ext cx="5687217" cy="1055993"/>
            <a:chOff x="0" y="0"/>
            <a:chExt cx="2032913" cy="377468"/>
          </a:xfrm>
        </p:grpSpPr>
        <p:sp>
          <p:nvSpPr>
            <p:cNvPr id="10" name="Freeform 10"/>
            <p:cNvSpPr/>
            <p:nvPr/>
          </p:nvSpPr>
          <p:spPr>
            <a:xfrm>
              <a:off x="0" y="0"/>
              <a:ext cx="2032913" cy="377468"/>
            </a:xfrm>
            <a:custGeom>
              <a:avLst/>
              <a:gdLst/>
              <a:ahLst/>
              <a:cxnLst/>
              <a:rect l="l" t="t" r="r" b="b"/>
              <a:pathLst>
                <a:path w="2032913" h="377468">
                  <a:moveTo>
                    <a:pt x="1829713" y="0"/>
                  </a:moveTo>
                  <a:cubicBezTo>
                    <a:pt x="1941938" y="0"/>
                    <a:pt x="2032913" y="84499"/>
                    <a:pt x="2032913" y="188734"/>
                  </a:cubicBezTo>
                  <a:cubicBezTo>
                    <a:pt x="2032913" y="292969"/>
                    <a:pt x="1941938" y="377468"/>
                    <a:pt x="1829713" y="377468"/>
                  </a:cubicBezTo>
                  <a:lnTo>
                    <a:pt x="203200" y="377468"/>
                  </a:lnTo>
                  <a:cubicBezTo>
                    <a:pt x="90976" y="377468"/>
                    <a:pt x="0" y="292969"/>
                    <a:pt x="0" y="188734"/>
                  </a:cubicBezTo>
                  <a:cubicBezTo>
                    <a:pt x="0" y="84499"/>
                    <a:pt x="90976" y="0"/>
                    <a:pt x="203200" y="0"/>
                  </a:cubicBezTo>
                  <a:close/>
                </a:path>
              </a:pathLst>
            </a:custGeom>
            <a:solidFill>
              <a:srgbClr val="021B74"/>
            </a:solidFill>
            <a:ln w="38100" cap="sq">
              <a:solidFill>
                <a:srgbClr val="38B6FF"/>
              </a:solidFill>
              <a:prstDash val="solid"/>
              <a:miter/>
            </a:ln>
          </p:spPr>
          <p:txBody>
            <a:bodyPr/>
            <a:lstStyle/>
            <a:p>
              <a:endParaRPr lang="en-TR"/>
            </a:p>
          </p:txBody>
        </p:sp>
        <p:sp>
          <p:nvSpPr>
            <p:cNvPr id="11" name="TextBox 11"/>
            <p:cNvSpPr txBox="1"/>
            <p:nvPr/>
          </p:nvSpPr>
          <p:spPr>
            <a:xfrm>
              <a:off x="0" y="-38100"/>
              <a:ext cx="2032913" cy="415568"/>
            </a:xfrm>
            <a:prstGeom prst="rect">
              <a:avLst/>
            </a:prstGeom>
          </p:spPr>
          <p:txBody>
            <a:bodyPr lIns="50800" tIns="50800" rIns="50800" bIns="50800" rtlCol="0" anchor="ctr"/>
            <a:lstStyle/>
            <a:p>
              <a:pPr algn="ctr">
                <a:lnSpc>
                  <a:spcPts val="3070"/>
                </a:lnSpc>
              </a:pPr>
              <a:endParaRPr/>
            </a:p>
          </p:txBody>
        </p:sp>
      </p:grpSp>
      <p:grpSp>
        <p:nvGrpSpPr>
          <p:cNvPr id="12" name="Group 12"/>
          <p:cNvGrpSpPr/>
          <p:nvPr/>
        </p:nvGrpSpPr>
        <p:grpSpPr>
          <a:xfrm>
            <a:off x="265961" y="6950366"/>
            <a:ext cx="5687217" cy="1139862"/>
            <a:chOff x="0" y="0"/>
            <a:chExt cx="2032913" cy="407447"/>
          </a:xfrm>
        </p:grpSpPr>
        <p:sp>
          <p:nvSpPr>
            <p:cNvPr id="13" name="Freeform 13"/>
            <p:cNvSpPr/>
            <p:nvPr/>
          </p:nvSpPr>
          <p:spPr>
            <a:xfrm>
              <a:off x="0" y="0"/>
              <a:ext cx="2032913" cy="407447"/>
            </a:xfrm>
            <a:custGeom>
              <a:avLst/>
              <a:gdLst/>
              <a:ahLst/>
              <a:cxnLst/>
              <a:rect l="l" t="t" r="r" b="b"/>
              <a:pathLst>
                <a:path w="2032913" h="407447">
                  <a:moveTo>
                    <a:pt x="1829713" y="0"/>
                  </a:moveTo>
                  <a:cubicBezTo>
                    <a:pt x="1941938" y="0"/>
                    <a:pt x="2032913" y="91210"/>
                    <a:pt x="2032913" y="203724"/>
                  </a:cubicBezTo>
                  <a:cubicBezTo>
                    <a:pt x="2032913" y="316237"/>
                    <a:pt x="1941938" y="407447"/>
                    <a:pt x="1829713" y="407447"/>
                  </a:cubicBezTo>
                  <a:lnTo>
                    <a:pt x="203200" y="407447"/>
                  </a:lnTo>
                  <a:cubicBezTo>
                    <a:pt x="90976" y="407447"/>
                    <a:pt x="0" y="316237"/>
                    <a:pt x="0" y="203724"/>
                  </a:cubicBezTo>
                  <a:cubicBezTo>
                    <a:pt x="0" y="91210"/>
                    <a:pt x="90976" y="0"/>
                    <a:pt x="203200" y="0"/>
                  </a:cubicBezTo>
                  <a:close/>
                </a:path>
              </a:pathLst>
            </a:custGeom>
            <a:solidFill>
              <a:srgbClr val="00186D"/>
            </a:solidFill>
            <a:ln w="38100" cap="sq">
              <a:solidFill>
                <a:srgbClr val="38B6FF"/>
              </a:solidFill>
              <a:prstDash val="solid"/>
              <a:miter/>
            </a:ln>
          </p:spPr>
          <p:txBody>
            <a:bodyPr/>
            <a:lstStyle/>
            <a:p>
              <a:endParaRPr lang="en-TR"/>
            </a:p>
          </p:txBody>
        </p:sp>
        <p:sp>
          <p:nvSpPr>
            <p:cNvPr id="14" name="TextBox 14"/>
            <p:cNvSpPr txBox="1"/>
            <p:nvPr/>
          </p:nvSpPr>
          <p:spPr>
            <a:xfrm>
              <a:off x="0" y="-38100"/>
              <a:ext cx="2032913" cy="445547"/>
            </a:xfrm>
            <a:prstGeom prst="rect">
              <a:avLst/>
            </a:prstGeom>
          </p:spPr>
          <p:txBody>
            <a:bodyPr lIns="50800" tIns="50800" rIns="50800" bIns="50800" rtlCol="0" anchor="ctr"/>
            <a:lstStyle/>
            <a:p>
              <a:pPr algn="ctr">
                <a:lnSpc>
                  <a:spcPts val="3070"/>
                </a:lnSpc>
              </a:pPr>
              <a:endParaRPr/>
            </a:p>
          </p:txBody>
        </p:sp>
      </p:grpSp>
      <p:sp>
        <p:nvSpPr>
          <p:cNvPr id="15" name="TextBox 15"/>
          <p:cNvSpPr txBox="1"/>
          <p:nvPr/>
        </p:nvSpPr>
        <p:spPr>
          <a:xfrm>
            <a:off x="469589" y="5848350"/>
            <a:ext cx="5415075" cy="396240"/>
          </a:xfrm>
          <a:prstGeom prst="rect">
            <a:avLst/>
          </a:prstGeom>
        </p:spPr>
        <p:txBody>
          <a:bodyPr lIns="0" tIns="0" rIns="0" bIns="0" rtlCol="0" anchor="t">
            <a:spAutoFit/>
          </a:bodyPr>
          <a:lstStyle/>
          <a:p>
            <a:pPr algn="ctr">
              <a:lnSpc>
                <a:spcPts val="3359"/>
              </a:lnSpc>
              <a:spcBef>
                <a:spcPct val="0"/>
              </a:spcBef>
            </a:pPr>
            <a:r>
              <a:rPr lang="en-US" sz="2400" b="1">
                <a:solidFill>
                  <a:srgbClr val="FFFFFF"/>
                </a:solidFill>
                <a:latin typeface="Garet Bold"/>
                <a:ea typeface="Garet Bold"/>
                <a:cs typeface="Garet Bold"/>
                <a:sym typeface="Garet Bold"/>
              </a:rPr>
              <a:t>Automated Context Compaction</a:t>
            </a:r>
          </a:p>
        </p:txBody>
      </p:sp>
      <p:sp>
        <p:nvSpPr>
          <p:cNvPr id="16" name="TextBox 16"/>
          <p:cNvSpPr txBox="1"/>
          <p:nvPr/>
        </p:nvSpPr>
        <p:spPr>
          <a:xfrm>
            <a:off x="169034" y="7303127"/>
            <a:ext cx="5881070" cy="396240"/>
          </a:xfrm>
          <a:prstGeom prst="rect">
            <a:avLst/>
          </a:prstGeom>
        </p:spPr>
        <p:txBody>
          <a:bodyPr lIns="0" tIns="0" rIns="0" bIns="0" rtlCol="0" anchor="t">
            <a:spAutoFit/>
          </a:bodyPr>
          <a:lstStyle/>
          <a:p>
            <a:pPr algn="ctr">
              <a:lnSpc>
                <a:spcPts val="3359"/>
              </a:lnSpc>
              <a:spcBef>
                <a:spcPct val="0"/>
              </a:spcBef>
            </a:pPr>
            <a:r>
              <a:rPr lang="en-US" sz="2400" b="1">
                <a:solidFill>
                  <a:srgbClr val="FFFFFF"/>
                </a:solidFill>
                <a:latin typeface="Garet Bold"/>
                <a:ea typeface="Garet Bold"/>
                <a:cs typeface="Garet Bold"/>
                <a:sym typeface="Garet Bold"/>
              </a:rPr>
              <a:t>Available Services &amp; Integrations</a:t>
            </a:r>
          </a:p>
        </p:txBody>
      </p:sp>
      <p:sp>
        <p:nvSpPr>
          <p:cNvPr id="17" name="AutoShape 17"/>
          <p:cNvSpPr/>
          <p:nvPr/>
        </p:nvSpPr>
        <p:spPr>
          <a:xfrm flipH="1">
            <a:off x="5953177" y="4647777"/>
            <a:ext cx="1201190" cy="0"/>
          </a:xfrm>
          <a:prstGeom prst="line">
            <a:avLst/>
          </a:prstGeom>
          <a:ln w="38100" cap="flat">
            <a:solidFill>
              <a:srgbClr val="38B6FF"/>
            </a:solidFill>
            <a:prstDash val="solid"/>
            <a:headEnd type="oval" w="lg" len="lg"/>
            <a:tailEnd type="none" w="sm" len="sm"/>
          </a:ln>
        </p:spPr>
        <p:txBody>
          <a:bodyPr/>
          <a:lstStyle/>
          <a:p>
            <a:endParaRPr lang="en-TR"/>
          </a:p>
        </p:txBody>
      </p:sp>
      <p:grpSp>
        <p:nvGrpSpPr>
          <p:cNvPr id="18" name="Group 18"/>
          <p:cNvGrpSpPr/>
          <p:nvPr/>
        </p:nvGrpSpPr>
        <p:grpSpPr>
          <a:xfrm>
            <a:off x="265961" y="8480753"/>
            <a:ext cx="5687217" cy="1113496"/>
            <a:chOff x="0" y="0"/>
            <a:chExt cx="2032913" cy="398023"/>
          </a:xfrm>
        </p:grpSpPr>
        <p:sp>
          <p:nvSpPr>
            <p:cNvPr id="19" name="Freeform 19"/>
            <p:cNvSpPr/>
            <p:nvPr/>
          </p:nvSpPr>
          <p:spPr>
            <a:xfrm>
              <a:off x="0" y="0"/>
              <a:ext cx="2032913" cy="398023"/>
            </a:xfrm>
            <a:custGeom>
              <a:avLst/>
              <a:gdLst/>
              <a:ahLst/>
              <a:cxnLst/>
              <a:rect l="l" t="t" r="r" b="b"/>
              <a:pathLst>
                <a:path w="2032913" h="398023">
                  <a:moveTo>
                    <a:pt x="1829713" y="0"/>
                  </a:moveTo>
                  <a:cubicBezTo>
                    <a:pt x="1941938" y="0"/>
                    <a:pt x="2032913" y="89100"/>
                    <a:pt x="2032913" y="199011"/>
                  </a:cubicBezTo>
                  <a:cubicBezTo>
                    <a:pt x="2032913" y="308922"/>
                    <a:pt x="1941938" y="398023"/>
                    <a:pt x="1829713" y="398023"/>
                  </a:cubicBezTo>
                  <a:lnTo>
                    <a:pt x="203200" y="398023"/>
                  </a:lnTo>
                  <a:cubicBezTo>
                    <a:pt x="90976" y="398023"/>
                    <a:pt x="0" y="308922"/>
                    <a:pt x="0" y="199011"/>
                  </a:cubicBezTo>
                  <a:cubicBezTo>
                    <a:pt x="0" y="89100"/>
                    <a:pt x="90976" y="0"/>
                    <a:pt x="203200" y="0"/>
                  </a:cubicBezTo>
                  <a:close/>
                </a:path>
              </a:pathLst>
            </a:custGeom>
            <a:solidFill>
              <a:srgbClr val="00186D"/>
            </a:solidFill>
            <a:ln w="38100" cap="sq">
              <a:solidFill>
                <a:srgbClr val="38B6FF"/>
              </a:solidFill>
              <a:prstDash val="solid"/>
              <a:miter/>
            </a:ln>
          </p:spPr>
          <p:txBody>
            <a:bodyPr/>
            <a:lstStyle/>
            <a:p>
              <a:endParaRPr lang="en-TR"/>
            </a:p>
          </p:txBody>
        </p:sp>
        <p:sp>
          <p:nvSpPr>
            <p:cNvPr id="20" name="TextBox 20"/>
            <p:cNvSpPr txBox="1"/>
            <p:nvPr/>
          </p:nvSpPr>
          <p:spPr>
            <a:xfrm>
              <a:off x="0" y="-38100"/>
              <a:ext cx="2032913" cy="436123"/>
            </a:xfrm>
            <a:prstGeom prst="rect">
              <a:avLst/>
            </a:prstGeom>
          </p:spPr>
          <p:txBody>
            <a:bodyPr lIns="50800" tIns="50800" rIns="50800" bIns="50800" rtlCol="0" anchor="ctr"/>
            <a:lstStyle/>
            <a:p>
              <a:pPr algn="ctr">
                <a:lnSpc>
                  <a:spcPts val="3070"/>
                </a:lnSpc>
              </a:pPr>
              <a:endParaRPr/>
            </a:p>
          </p:txBody>
        </p:sp>
      </p:grpSp>
      <p:sp>
        <p:nvSpPr>
          <p:cNvPr id="21" name="TextBox 21"/>
          <p:cNvSpPr txBox="1"/>
          <p:nvPr/>
        </p:nvSpPr>
        <p:spPr>
          <a:xfrm>
            <a:off x="585880" y="8795078"/>
            <a:ext cx="5047378" cy="396240"/>
          </a:xfrm>
          <a:prstGeom prst="rect">
            <a:avLst/>
          </a:prstGeom>
        </p:spPr>
        <p:txBody>
          <a:bodyPr lIns="0" tIns="0" rIns="0" bIns="0" rtlCol="0" anchor="t">
            <a:spAutoFit/>
          </a:bodyPr>
          <a:lstStyle/>
          <a:p>
            <a:pPr algn="l">
              <a:lnSpc>
                <a:spcPts val="3359"/>
              </a:lnSpc>
              <a:spcBef>
                <a:spcPct val="0"/>
              </a:spcBef>
            </a:pPr>
            <a:r>
              <a:rPr lang="en-US" sz="2400" b="1">
                <a:solidFill>
                  <a:srgbClr val="FFFFFF"/>
                </a:solidFill>
                <a:latin typeface="Garet Bold"/>
                <a:ea typeface="Garet Bold"/>
                <a:cs typeface="Garet Bold"/>
                <a:sym typeface="Garet Bold"/>
              </a:rPr>
              <a:t>Tool Use  (Function Calling)</a:t>
            </a:r>
          </a:p>
        </p:txBody>
      </p:sp>
      <p:sp>
        <p:nvSpPr>
          <p:cNvPr id="22" name="TextBox 22"/>
          <p:cNvSpPr txBox="1"/>
          <p:nvPr/>
        </p:nvSpPr>
        <p:spPr>
          <a:xfrm>
            <a:off x="7085855" y="4181693"/>
            <a:ext cx="10830315" cy="1044575"/>
          </a:xfrm>
          <a:prstGeom prst="rect">
            <a:avLst/>
          </a:prstGeom>
        </p:spPr>
        <p:txBody>
          <a:bodyPr lIns="0" tIns="0" rIns="0" bIns="0" rtlCol="0" anchor="t">
            <a:spAutoFit/>
          </a:bodyPr>
          <a:lstStyle/>
          <a:p>
            <a:pPr algn="ctr">
              <a:lnSpc>
                <a:spcPts val="2800"/>
              </a:lnSpc>
              <a:spcBef>
                <a:spcPct val="0"/>
              </a:spcBef>
            </a:pPr>
            <a:r>
              <a:rPr lang="en-US" sz="2000">
                <a:solidFill>
                  <a:srgbClr val="FFFFFF"/>
                </a:solidFill>
                <a:latin typeface="Garet"/>
                <a:ea typeface="Garet"/>
                <a:cs typeface="Garet"/>
                <a:sym typeface="Garet"/>
              </a:rPr>
              <a:t>Sonnet uses dynamic "adaptive thinking" modes, autonomously deciding how much computational effort to spend planning before it generates a response or writes code.</a:t>
            </a:r>
          </a:p>
        </p:txBody>
      </p:sp>
      <p:sp>
        <p:nvSpPr>
          <p:cNvPr id="23" name="TextBox 23"/>
          <p:cNvSpPr txBox="1"/>
          <p:nvPr/>
        </p:nvSpPr>
        <p:spPr>
          <a:xfrm>
            <a:off x="7354393" y="5763425"/>
            <a:ext cx="10646024" cy="1044575"/>
          </a:xfrm>
          <a:prstGeom prst="rect">
            <a:avLst/>
          </a:prstGeom>
        </p:spPr>
        <p:txBody>
          <a:bodyPr lIns="0" tIns="0" rIns="0" bIns="0" rtlCol="0" anchor="t">
            <a:spAutoFit/>
          </a:bodyPr>
          <a:lstStyle/>
          <a:p>
            <a:pPr algn="ctr">
              <a:lnSpc>
                <a:spcPts val="2800"/>
              </a:lnSpc>
              <a:spcBef>
                <a:spcPct val="0"/>
              </a:spcBef>
            </a:pPr>
            <a:r>
              <a:rPr lang="en-US" sz="2000">
                <a:solidFill>
                  <a:srgbClr val="FFFFFF"/>
                </a:solidFill>
                <a:latin typeface="Garet"/>
                <a:ea typeface="Garet"/>
                <a:cs typeface="Garet"/>
                <a:sym typeface="Garet"/>
              </a:rPr>
              <a:t>As conversations get extremely long, the architecture algorithmically summarizes older data to prevent memory truncation, allowing it to "remember" things from hours ago.</a:t>
            </a:r>
          </a:p>
        </p:txBody>
      </p:sp>
      <p:sp>
        <p:nvSpPr>
          <p:cNvPr id="24" name="TextBox 24"/>
          <p:cNvSpPr txBox="1"/>
          <p:nvPr/>
        </p:nvSpPr>
        <p:spPr>
          <a:xfrm>
            <a:off x="8226704" y="7231814"/>
            <a:ext cx="7972040" cy="681931"/>
          </a:xfrm>
          <a:prstGeom prst="rect">
            <a:avLst/>
          </a:prstGeom>
        </p:spPr>
        <p:txBody>
          <a:bodyPr lIns="0" tIns="0" rIns="0" bIns="0" rtlCol="0" anchor="t">
            <a:spAutoFit/>
          </a:bodyPr>
          <a:lstStyle/>
          <a:p>
            <a:pPr algn="ctr">
              <a:lnSpc>
                <a:spcPts val="2797"/>
              </a:lnSpc>
              <a:spcBef>
                <a:spcPct val="0"/>
              </a:spcBef>
            </a:pPr>
            <a:r>
              <a:rPr lang="en-US" sz="1997">
                <a:solidFill>
                  <a:srgbClr val="FFFFFF"/>
                </a:solidFill>
                <a:latin typeface="Garet"/>
                <a:ea typeface="Garet"/>
                <a:cs typeface="Garet"/>
                <a:sym typeface="Garet"/>
              </a:rPr>
              <a:t>API Access: Delivered as a serverless API via Anthropic, Amazon Bedrock, or Google Cloud Vertex AI.</a:t>
            </a:r>
          </a:p>
        </p:txBody>
      </p:sp>
      <p:sp>
        <p:nvSpPr>
          <p:cNvPr id="25" name="TextBox 25"/>
          <p:cNvSpPr txBox="1"/>
          <p:nvPr/>
        </p:nvSpPr>
        <p:spPr>
          <a:xfrm>
            <a:off x="7187766" y="8549674"/>
            <a:ext cx="10582021" cy="1044575"/>
          </a:xfrm>
          <a:prstGeom prst="rect">
            <a:avLst/>
          </a:prstGeom>
        </p:spPr>
        <p:txBody>
          <a:bodyPr lIns="0" tIns="0" rIns="0" bIns="0" rtlCol="0" anchor="t">
            <a:spAutoFit/>
          </a:bodyPr>
          <a:lstStyle/>
          <a:p>
            <a:pPr algn="ctr">
              <a:lnSpc>
                <a:spcPts val="2800"/>
              </a:lnSpc>
              <a:spcBef>
                <a:spcPct val="0"/>
              </a:spcBef>
            </a:pPr>
            <a:r>
              <a:rPr lang="en-US" sz="2000">
                <a:solidFill>
                  <a:srgbClr val="FFFFFF"/>
                </a:solidFill>
                <a:latin typeface="Garet"/>
                <a:ea typeface="Garet"/>
                <a:cs typeface="Garet"/>
                <a:sym typeface="Garet"/>
              </a:rPr>
              <a:t>  It has native capabilities to write and execute its own code to filter search results, interact with databases, and even operate virtual computer environments via the Model Context Protocol (MCP).</a:t>
            </a:r>
          </a:p>
        </p:txBody>
      </p:sp>
      <p:sp>
        <p:nvSpPr>
          <p:cNvPr id="26" name="AutoShape 26"/>
          <p:cNvSpPr/>
          <p:nvPr/>
        </p:nvSpPr>
        <p:spPr>
          <a:xfrm flipH="1">
            <a:off x="5953177" y="6040149"/>
            <a:ext cx="1201190" cy="0"/>
          </a:xfrm>
          <a:prstGeom prst="line">
            <a:avLst/>
          </a:prstGeom>
          <a:ln w="38100" cap="flat">
            <a:solidFill>
              <a:srgbClr val="38B6FF"/>
            </a:solidFill>
            <a:prstDash val="solid"/>
            <a:headEnd type="oval" w="lg" len="lg"/>
            <a:tailEnd type="none" w="sm" len="sm"/>
          </a:ln>
        </p:spPr>
        <p:txBody>
          <a:bodyPr/>
          <a:lstStyle/>
          <a:p>
            <a:endParaRPr lang="en-TR"/>
          </a:p>
        </p:txBody>
      </p:sp>
      <p:sp>
        <p:nvSpPr>
          <p:cNvPr id="27" name="AutoShape 27"/>
          <p:cNvSpPr/>
          <p:nvPr/>
        </p:nvSpPr>
        <p:spPr>
          <a:xfrm flipH="1">
            <a:off x="5953177" y="7501247"/>
            <a:ext cx="1201190" cy="0"/>
          </a:xfrm>
          <a:prstGeom prst="line">
            <a:avLst/>
          </a:prstGeom>
          <a:ln w="38100" cap="flat">
            <a:solidFill>
              <a:srgbClr val="38B6FF"/>
            </a:solidFill>
            <a:prstDash val="solid"/>
            <a:headEnd type="oval" w="lg" len="lg"/>
            <a:tailEnd type="none" w="sm" len="sm"/>
          </a:ln>
        </p:spPr>
        <p:txBody>
          <a:bodyPr/>
          <a:lstStyle/>
          <a:p>
            <a:endParaRPr lang="en-TR"/>
          </a:p>
        </p:txBody>
      </p:sp>
      <p:sp>
        <p:nvSpPr>
          <p:cNvPr id="28" name="AutoShape 28"/>
          <p:cNvSpPr/>
          <p:nvPr/>
        </p:nvSpPr>
        <p:spPr>
          <a:xfrm flipH="1">
            <a:off x="5884665" y="8902731"/>
            <a:ext cx="1201190" cy="0"/>
          </a:xfrm>
          <a:prstGeom prst="line">
            <a:avLst/>
          </a:prstGeom>
          <a:ln w="38100" cap="flat">
            <a:solidFill>
              <a:srgbClr val="38B6FF"/>
            </a:solidFill>
            <a:prstDash val="solid"/>
            <a:headEnd type="oval" w="lg" len="lg"/>
            <a:tailEnd type="none" w="sm" len="sm"/>
          </a:ln>
        </p:spPr>
        <p:txBody>
          <a:bodyPr/>
          <a:lstStyle/>
          <a:p>
            <a:endParaRPr lang="en-T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21B74"/>
        </a:solidFill>
        <a:effectLst/>
      </p:bgPr>
    </p:bg>
    <p:spTree>
      <p:nvGrpSpPr>
        <p:cNvPr id="1" name=""/>
        <p:cNvGrpSpPr/>
        <p:nvPr/>
      </p:nvGrpSpPr>
      <p:grpSpPr>
        <a:xfrm>
          <a:off x="0" y="0"/>
          <a:ext cx="0" cy="0"/>
          <a:chOff x="0" y="0"/>
          <a:chExt cx="0" cy="0"/>
        </a:xfrm>
      </p:grpSpPr>
      <p:sp>
        <p:nvSpPr>
          <p:cNvPr id="2" name="Freeform 2"/>
          <p:cNvSpPr/>
          <p:nvPr/>
        </p:nvSpPr>
        <p:spPr>
          <a:xfrm>
            <a:off x="14273487" y="633985"/>
            <a:ext cx="7324344" cy="8229600"/>
          </a:xfrm>
          <a:custGeom>
            <a:avLst/>
            <a:gdLst/>
            <a:ahLst/>
            <a:cxnLst/>
            <a:rect l="l" t="t" r="r" b="b"/>
            <a:pathLst>
              <a:path w="7324344" h="8229600">
                <a:moveTo>
                  <a:pt x="0" y="0"/>
                </a:moveTo>
                <a:lnTo>
                  <a:pt x="7324344" y="0"/>
                </a:lnTo>
                <a:lnTo>
                  <a:pt x="7324344" y="8229600"/>
                </a:lnTo>
                <a:lnTo>
                  <a:pt x="0" y="8229600"/>
                </a:lnTo>
                <a:lnTo>
                  <a:pt x="0" y="0"/>
                </a:lnTo>
                <a:close/>
              </a:path>
            </a:pathLst>
          </a:custGeom>
          <a:blipFill>
            <a:blip r:embed="rId2"/>
            <a:stretch>
              <a:fillRect/>
            </a:stretch>
          </a:blipFill>
        </p:spPr>
        <p:txBody>
          <a:bodyPr/>
          <a:lstStyle/>
          <a:p>
            <a:endParaRPr lang="en-TR"/>
          </a:p>
        </p:txBody>
      </p:sp>
      <p:sp>
        <p:nvSpPr>
          <p:cNvPr id="3" name="Freeform 3"/>
          <p:cNvSpPr/>
          <p:nvPr/>
        </p:nvSpPr>
        <p:spPr>
          <a:xfrm>
            <a:off x="-3059210" y="2224034"/>
            <a:ext cx="5477398" cy="6154379"/>
          </a:xfrm>
          <a:custGeom>
            <a:avLst/>
            <a:gdLst/>
            <a:ahLst/>
            <a:cxnLst/>
            <a:rect l="l" t="t" r="r" b="b"/>
            <a:pathLst>
              <a:path w="5477398" h="6154379">
                <a:moveTo>
                  <a:pt x="0" y="0"/>
                </a:moveTo>
                <a:lnTo>
                  <a:pt x="5477397" y="0"/>
                </a:lnTo>
                <a:lnTo>
                  <a:pt x="5477397" y="6154379"/>
                </a:lnTo>
                <a:lnTo>
                  <a:pt x="0" y="6154379"/>
                </a:lnTo>
                <a:lnTo>
                  <a:pt x="0" y="0"/>
                </a:lnTo>
                <a:close/>
              </a:path>
            </a:pathLst>
          </a:custGeom>
          <a:blipFill>
            <a:blip r:embed="rId2"/>
            <a:stretch>
              <a:fillRect/>
            </a:stretch>
          </a:blipFill>
        </p:spPr>
        <p:txBody>
          <a:bodyPr/>
          <a:lstStyle/>
          <a:p>
            <a:endParaRPr lang="en-TR"/>
          </a:p>
        </p:txBody>
      </p:sp>
      <p:sp>
        <p:nvSpPr>
          <p:cNvPr id="4" name="Freeform 4"/>
          <p:cNvSpPr/>
          <p:nvPr/>
        </p:nvSpPr>
        <p:spPr>
          <a:xfrm>
            <a:off x="15696074" y="8378413"/>
            <a:ext cx="1563226" cy="789429"/>
          </a:xfrm>
          <a:custGeom>
            <a:avLst/>
            <a:gdLst/>
            <a:ahLst/>
            <a:cxnLst/>
            <a:rect l="l" t="t" r="r" b="b"/>
            <a:pathLst>
              <a:path w="1563226" h="789429">
                <a:moveTo>
                  <a:pt x="0" y="0"/>
                </a:moveTo>
                <a:lnTo>
                  <a:pt x="1563226" y="0"/>
                </a:lnTo>
                <a:lnTo>
                  <a:pt x="1563226" y="789430"/>
                </a:lnTo>
                <a:lnTo>
                  <a:pt x="0" y="78943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TR"/>
          </a:p>
        </p:txBody>
      </p:sp>
      <p:sp>
        <p:nvSpPr>
          <p:cNvPr id="5" name="Freeform 5"/>
          <p:cNvSpPr/>
          <p:nvPr/>
        </p:nvSpPr>
        <p:spPr>
          <a:xfrm rot="-5400000">
            <a:off x="641802" y="1415598"/>
            <a:ext cx="1563226" cy="789429"/>
          </a:xfrm>
          <a:custGeom>
            <a:avLst/>
            <a:gdLst/>
            <a:ahLst/>
            <a:cxnLst/>
            <a:rect l="l" t="t" r="r" b="b"/>
            <a:pathLst>
              <a:path w="1563226" h="789429">
                <a:moveTo>
                  <a:pt x="0" y="0"/>
                </a:moveTo>
                <a:lnTo>
                  <a:pt x="1563226" y="0"/>
                </a:lnTo>
                <a:lnTo>
                  <a:pt x="1563226" y="789430"/>
                </a:lnTo>
                <a:lnTo>
                  <a:pt x="0" y="78943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TR"/>
          </a:p>
        </p:txBody>
      </p:sp>
      <p:sp>
        <p:nvSpPr>
          <p:cNvPr id="6" name="TextBox 6"/>
          <p:cNvSpPr txBox="1"/>
          <p:nvPr/>
        </p:nvSpPr>
        <p:spPr>
          <a:xfrm>
            <a:off x="1904791" y="4567810"/>
            <a:ext cx="14572896" cy="1592473"/>
          </a:xfrm>
          <a:prstGeom prst="rect">
            <a:avLst/>
          </a:prstGeom>
        </p:spPr>
        <p:txBody>
          <a:bodyPr lIns="0" tIns="0" rIns="0" bIns="0" rtlCol="0" anchor="t">
            <a:spAutoFit/>
          </a:bodyPr>
          <a:lstStyle/>
          <a:p>
            <a:pPr algn="ctr">
              <a:lnSpc>
                <a:spcPts val="13025"/>
              </a:lnSpc>
              <a:spcBef>
                <a:spcPct val="0"/>
              </a:spcBef>
            </a:pPr>
            <a:r>
              <a:rPr lang="en-US" sz="9304" spc="1014">
                <a:solidFill>
                  <a:srgbClr val="FFFFFF">
                    <a:alpha val="96863"/>
                  </a:srgbClr>
                </a:solidFill>
                <a:latin typeface="Garet"/>
                <a:ea typeface="Garet"/>
                <a:cs typeface="Garet"/>
                <a:sym typeface="Garet"/>
              </a:rPr>
              <a:t>The Demonstration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21B74"/>
        </a:solidFill>
        <a:effectLst/>
      </p:bgPr>
    </p:bg>
    <p:spTree>
      <p:nvGrpSpPr>
        <p:cNvPr id="1" name=""/>
        <p:cNvGrpSpPr/>
        <p:nvPr/>
      </p:nvGrpSpPr>
      <p:grpSpPr>
        <a:xfrm>
          <a:off x="0" y="0"/>
          <a:ext cx="0" cy="0"/>
          <a:chOff x="0" y="0"/>
          <a:chExt cx="0" cy="0"/>
        </a:xfrm>
      </p:grpSpPr>
      <p:sp>
        <p:nvSpPr>
          <p:cNvPr id="2" name="Freeform 2"/>
          <p:cNvSpPr/>
          <p:nvPr/>
        </p:nvSpPr>
        <p:spPr>
          <a:xfrm>
            <a:off x="4979601" y="859723"/>
            <a:ext cx="7324344" cy="8229600"/>
          </a:xfrm>
          <a:custGeom>
            <a:avLst/>
            <a:gdLst/>
            <a:ahLst/>
            <a:cxnLst/>
            <a:rect l="l" t="t" r="r" b="b"/>
            <a:pathLst>
              <a:path w="7324344" h="8229600">
                <a:moveTo>
                  <a:pt x="0" y="0"/>
                </a:moveTo>
                <a:lnTo>
                  <a:pt x="7324344" y="0"/>
                </a:lnTo>
                <a:lnTo>
                  <a:pt x="7324344" y="8229600"/>
                </a:lnTo>
                <a:lnTo>
                  <a:pt x="0" y="8229600"/>
                </a:lnTo>
                <a:lnTo>
                  <a:pt x="0" y="0"/>
                </a:lnTo>
                <a:close/>
              </a:path>
            </a:pathLst>
          </a:custGeom>
          <a:blipFill>
            <a:blip r:embed="rId2"/>
            <a:stretch>
              <a:fillRect/>
            </a:stretch>
          </a:blipFill>
        </p:spPr>
        <p:txBody>
          <a:bodyPr/>
          <a:lstStyle/>
          <a:p>
            <a:endParaRPr lang="en-TR"/>
          </a:p>
        </p:txBody>
      </p:sp>
      <p:sp>
        <p:nvSpPr>
          <p:cNvPr id="3" name="TextBox 3"/>
          <p:cNvSpPr txBox="1"/>
          <p:nvPr/>
        </p:nvSpPr>
        <p:spPr>
          <a:xfrm>
            <a:off x="1532855" y="3249898"/>
            <a:ext cx="15222289" cy="4187548"/>
          </a:xfrm>
          <a:prstGeom prst="rect">
            <a:avLst/>
          </a:prstGeom>
        </p:spPr>
        <p:txBody>
          <a:bodyPr lIns="0" tIns="0" rIns="0" bIns="0" rtlCol="0" anchor="t">
            <a:spAutoFit/>
          </a:bodyPr>
          <a:lstStyle/>
          <a:p>
            <a:pPr algn="l">
              <a:lnSpc>
                <a:spcPts val="5677"/>
              </a:lnSpc>
            </a:pPr>
            <a:endParaRPr/>
          </a:p>
          <a:p>
            <a:pPr marL="490289" lvl="1" indent="-245145" algn="l">
              <a:lnSpc>
                <a:spcPts val="5677"/>
              </a:lnSpc>
              <a:buFont typeface="Arial"/>
              <a:buChar char="•"/>
            </a:pPr>
            <a:r>
              <a:rPr lang="en-US" sz="2270">
                <a:solidFill>
                  <a:srgbClr val="FFFFFF"/>
                </a:solidFill>
                <a:latin typeface="Garet"/>
                <a:ea typeface="Garet"/>
                <a:cs typeface="Garet"/>
                <a:sym typeface="Garet"/>
              </a:rPr>
              <a:t>Anthropic Research (2024): Claude 3 Model Family Technical Report.</a:t>
            </a:r>
          </a:p>
          <a:p>
            <a:pPr marL="490289" lvl="1" indent="-245145" algn="l">
              <a:lnSpc>
                <a:spcPts val="5677"/>
              </a:lnSpc>
              <a:buFont typeface="Arial"/>
              <a:buChar char="•"/>
            </a:pPr>
            <a:r>
              <a:rPr lang="en-US" sz="2270">
                <a:solidFill>
                  <a:srgbClr val="FFFFFF"/>
                </a:solidFill>
                <a:latin typeface="Garet"/>
                <a:ea typeface="Garet"/>
                <a:cs typeface="Garet"/>
                <a:sym typeface="Garet"/>
              </a:rPr>
              <a:t>Martin Fowler: Patterns of Enterprise Application Architecture (Database Scalability &amp; N+1 Problems).</a:t>
            </a:r>
          </a:p>
          <a:p>
            <a:pPr marL="490289" lvl="1" indent="-245145" algn="l">
              <a:lnSpc>
                <a:spcPts val="5677"/>
              </a:lnSpc>
              <a:buFont typeface="Arial"/>
              <a:buChar char="•"/>
            </a:pPr>
            <a:r>
              <a:rPr lang="en-US" sz="2270">
                <a:solidFill>
                  <a:srgbClr val="FFFFFF"/>
                </a:solidFill>
                <a:latin typeface="Garet"/>
                <a:ea typeface="Garet"/>
                <a:cs typeface="Garet"/>
                <a:sym typeface="Garet"/>
              </a:rPr>
              <a:t>Chris Richardson: Microservices Patterns (Shared Database vs. Database-per-Service).</a:t>
            </a:r>
          </a:p>
          <a:p>
            <a:pPr marL="490289" lvl="1" indent="-245145" algn="l">
              <a:lnSpc>
                <a:spcPts val="5677"/>
              </a:lnSpc>
              <a:buFont typeface="Arial"/>
              <a:buChar char="•"/>
            </a:pPr>
            <a:r>
              <a:rPr lang="en-US" sz="2270">
                <a:solidFill>
                  <a:srgbClr val="FFFFFF"/>
                </a:solidFill>
                <a:latin typeface="Garet"/>
                <a:ea typeface="Garet"/>
                <a:cs typeface="Garet"/>
                <a:sym typeface="Garet"/>
              </a:rPr>
              <a:t>Robert C. Martin: Clean Architecture (System Decoupling and Mocking Strategies).</a:t>
            </a:r>
          </a:p>
          <a:p>
            <a:pPr marL="490289" lvl="1" indent="-245145" algn="l">
              <a:lnSpc>
                <a:spcPts val="5677"/>
              </a:lnSpc>
              <a:buFont typeface="Arial"/>
              <a:buChar char="•"/>
            </a:pPr>
            <a:r>
              <a:rPr lang="en-US" sz="2270">
                <a:solidFill>
                  <a:srgbClr val="FFFFFF"/>
                </a:solidFill>
                <a:latin typeface="Garet"/>
                <a:ea typeface="Garet"/>
                <a:cs typeface="Garet"/>
                <a:sym typeface="Garet"/>
              </a:rPr>
              <a:t>Official Documentation: Anthropic API Reference &amp; Google AI Studio Integration.</a:t>
            </a:r>
          </a:p>
        </p:txBody>
      </p:sp>
      <p:sp>
        <p:nvSpPr>
          <p:cNvPr id="4" name="TextBox 4"/>
          <p:cNvSpPr txBox="1"/>
          <p:nvPr/>
        </p:nvSpPr>
        <p:spPr>
          <a:xfrm>
            <a:off x="-1294357" y="1117889"/>
            <a:ext cx="14572896" cy="1592473"/>
          </a:xfrm>
          <a:prstGeom prst="rect">
            <a:avLst/>
          </a:prstGeom>
        </p:spPr>
        <p:txBody>
          <a:bodyPr lIns="0" tIns="0" rIns="0" bIns="0" rtlCol="0" anchor="t">
            <a:spAutoFit/>
          </a:bodyPr>
          <a:lstStyle/>
          <a:p>
            <a:pPr algn="ctr">
              <a:lnSpc>
                <a:spcPts val="13025"/>
              </a:lnSpc>
              <a:spcBef>
                <a:spcPct val="0"/>
              </a:spcBef>
            </a:pPr>
            <a:r>
              <a:rPr lang="en-US" sz="9304" spc="1014">
                <a:solidFill>
                  <a:srgbClr val="FFFFFF">
                    <a:alpha val="96863"/>
                  </a:srgbClr>
                </a:solidFill>
                <a:latin typeface="Garet"/>
                <a:ea typeface="Garet"/>
                <a:cs typeface="Garet"/>
                <a:sym typeface="Garet"/>
              </a:rPr>
              <a:t>References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505</Words>
  <Application>Microsoft Macintosh PowerPoint</Application>
  <PresentationFormat>Custom</PresentationFormat>
  <Paragraphs>43</Paragraphs>
  <Slides>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Arial</vt:lpstr>
      <vt:lpstr>Garet Light</vt:lpstr>
      <vt:lpstr>Garet Bold</vt:lpstr>
      <vt:lpstr>Garet</vt:lpstr>
      <vt:lpstr>Calibri</vt:lpstr>
      <vt:lpstr>Garet Italics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Claude Sonnet</dc:title>
  <cp:lastModifiedBy>BEGÜM BAL</cp:lastModifiedBy>
  <cp:revision>2</cp:revision>
  <dcterms:created xsi:type="dcterms:W3CDTF">2006-08-16T00:00:00Z</dcterms:created>
  <dcterms:modified xsi:type="dcterms:W3CDTF">2026-02-24T14:06:07Z</dcterms:modified>
  <dc:identifier>DAHCIylaLiQ</dc:identifier>
</cp:coreProperties>
</file>